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年間発生回数（全国アメダス集計）</a:t>
            </a:r>
          </a:p>
        </c:rich>
      </c:tx>
      <c:layout/>
      <c:overlay val="0"/>
    </c:title>
    <c:autoTitleDeleted val="0"/>
    <c:plotArea>
      <c:layout/>
      <c:barChart>
        <c:barDir val="col"/>
        <c:grouping val="clustered"/>
        <c:varyColors val="0"/>
        <c:ser>
          <c:idx val="0"/>
          <c:order val="0"/>
          <c:tx>
            <c:strRef>
              <c:f>Sheet1!$B$1</c:f>
              <c:strCache>
                <c:ptCount val="1"/>
                <c:pt idx="0">
                  <c:v>初期10年（1976〜1985年）</c:v>
                </c:pt>
              </c:strCache>
            </c:strRef>
          </c:tx>
          <c:spPr>
            <a:solidFill>
              <a:srgbClr val="1C7293"/>
            </a:solidFill>
            <a:effectLst/>
          </c:spPr>
          <c:invertIfNegative val="0"/>
          <c:dLbls>
            <c:numFmt formatCode="#,##0" sourceLinked="0"/>
            <c:txPr>
              <a:bodyPr/>
              <a:lstStyle/>
              <a:p>
                <a:pPr>
                  <a:defRPr b="0" i="0" strike="noStrike" sz="1100" u="none">
                    <a:solidFill>
                      <a:srgbClr val="1E2430"/>
                    </a:solidFill>
                    <a:latin typeface="Arial"/>
                  </a:defRPr>
                </a:pPr>
              </a:p>
            </c:txPr>
            <c:showLegendKey val="0"/>
            <c:showVal val="1"/>
            <c:showCatName val="0"/>
            <c:showSerName val="0"/>
            <c:showPercent val="0"/>
            <c:showBubbleSize val="0"/>
            <c:showLeaderLines val="0"/>
          </c:dLbls>
          <c:cat>
            <c:multiLvlStrRef>
              <c:f>Sheet1!$A$2:$A$3</c:f>
              <c:multiLvlStrCache>
                <c:ptCount val="2"/>
                <c:lvl>
                  <c:pt idx="0">
                    <c:v>1時間50mm以上</c:v>
                  </c:pt>
                  <c:pt idx="1">
                    <c:v>1時間80mm以上（猛烈な雨）</c:v>
                  </c:pt>
                </c:lvl>
              </c:multiLvlStrCache>
            </c:multiLvlStrRef>
          </c:cat>
          <c:val>
            <c:numRef>
              <c:f>Sheet1!$B$2:$B$3</c:f>
              <c:numCache>
                <c:formatCode>General</c:formatCode>
                <c:ptCount val="2"/>
                <c:pt idx="0">
                  <c:v>226</c:v>
                </c:pt>
                <c:pt idx="1">
                  <c:v>14</c:v>
                </c:pt>
              </c:numCache>
            </c:numRef>
          </c:val>
        </c:ser>
        <c:ser>
          <c:idx val="1"/>
          <c:order val="1"/>
          <c:tx>
            <c:strRef>
              <c:f>Sheet1!$C$1</c:f>
              <c:strCache>
                <c:ptCount val="1"/>
                <c:pt idx="0">
                  <c:v>直近10年（2015〜2024年）</c:v>
                </c:pt>
              </c:strCache>
            </c:strRef>
          </c:tx>
          <c:spPr>
            <a:solidFill>
              <a:srgbClr val="065A82"/>
            </a:solidFill>
            <a:effectLst/>
          </c:spPr>
          <c:invertIfNegative val="0"/>
          <c:dLbls>
            <c:numFmt formatCode="#,##0" sourceLinked="0"/>
            <c:txPr>
              <a:bodyPr/>
              <a:lstStyle/>
              <a:p>
                <a:pPr>
                  <a:defRPr b="0" i="0" strike="noStrike" sz="1100" u="none">
                    <a:solidFill>
                      <a:srgbClr val="1E2430"/>
                    </a:solidFill>
                    <a:latin typeface="Arial"/>
                  </a:defRPr>
                </a:pPr>
              </a:p>
            </c:txPr>
            <c:showLegendKey val="0"/>
            <c:showVal val="1"/>
            <c:showCatName val="0"/>
            <c:showSerName val="0"/>
            <c:showPercent val="0"/>
            <c:showBubbleSize val="0"/>
            <c:showLeaderLines val="0"/>
          </c:dLbls>
          <c:cat>
            <c:multiLvlStrRef>
              <c:f>Sheet1!$A$2:$A$3</c:f>
              <c:multiLvlStrCache>
                <c:ptCount val="2"/>
                <c:lvl>
                  <c:pt idx="0">
                    <c:v>1時間50mm以上</c:v>
                  </c:pt>
                  <c:pt idx="1">
                    <c:v>1時間80mm以上（猛烈な雨）</c:v>
                  </c:pt>
                </c:lvl>
              </c:multiLvlStrCache>
            </c:multiLvlStrRef>
          </c:cat>
          <c:val>
            <c:numRef>
              <c:f>Sheet1!$C$2:$C$3</c:f>
              <c:numCache>
                <c:formatCode>General</c:formatCode>
                <c:ptCount val="2"/>
                <c:pt idx="0">
                  <c:v>334</c:v>
                </c:pt>
                <c:pt idx="1">
                  <c:v>24</c:v>
                </c:pt>
              </c:numCache>
            </c:numRef>
          </c:val>
        </c:ser>
        <c:dLbls>
          <c:numFmt formatCode="#,##0" sourceLinked="0"/>
          <c:txPr>
            <a:bodyPr/>
            <a:lstStyle/>
            <a:p>
              <a:pPr>
                <a:defRPr b="0" i="0" strike="noStrike" sz="1100" u="none">
                  <a:solidFill>
                    <a:srgbClr val="1E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43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EC"/>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回/年</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24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記録的短時間大雨情報の年間発表回数（全国）</a:t>
            </a:r>
          </a:p>
        </c:rich>
      </c:tx>
      <c:layout/>
      <c:overlay val="0"/>
    </c:title>
    <c:autoTitleDeleted val="0"/>
    <c:plotArea>
      <c:layout/>
      <c:barChart>
        <c:barDir val="col"/>
        <c:grouping val="clustered"/>
        <c:varyColors val="0"/>
        <c:ser>
          <c:idx val="0"/>
          <c:order val="0"/>
          <c:tx>
            <c:strRef>
              <c:f>Sheet1!$B$1</c:f>
              <c:strCache>
                <c:ptCount val="1"/>
                <c:pt idx="0">
                  <c:v>記録的短時間大雨情報 発表回数</c:v>
                </c:pt>
              </c:strCache>
            </c:strRef>
          </c:tx>
          <c:spPr>
            <a:solidFill>
              <a:srgbClr val="065A82"/>
            </a:solidFill>
            <a:effectLst/>
          </c:spPr>
          <c:invertIfNegative val="0"/>
          <c:dLbls>
            <c:numFmt formatCode="#,##0" sourceLinked="0"/>
            <c:txPr>
              <a:bodyPr/>
              <a:lstStyle/>
              <a:p>
                <a:pPr>
                  <a:defRPr b="0" i="0" strike="noStrike" sz="1200" u="none">
                    <a:solidFill>
                      <a:srgbClr val="1E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12年平均
（2013〜2024）</c:v>
                  </c:pt>
                  <c:pt idx="1">
                    <c:v>2022年</c:v>
                  </c:pt>
                  <c:pt idx="2">
                    <c:v>2025年</c:v>
                  </c:pt>
                </c:lvl>
              </c:multiLvlStrCache>
            </c:multiLvlStrRef>
          </c:cat>
          <c:val>
            <c:numRef>
              <c:f>Sheet1!$B$2:$B$4</c:f>
              <c:numCache>
                <c:formatCode>General</c:formatCode>
                <c:ptCount val="3"/>
                <c:pt idx="0">
                  <c:v>90</c:v>
                </c:pt>
                <c:pt idx="1">
                  <c:v>161</c:v>
                </c:pt>
                <c:pt idx="2">
                  <c:v>163</c:v>
                </c:pt>
              </c:numCache>
            </c:numRef>
          </c:val>
        </c:ser>
        <c:dLbls>
          <c:numFmt formatCode="#,##0" sourceLinked="0"/>
          <c:txPr>
            <a:bodyPr/>
            <a:lstStyle/>
            <a:p>
              <a:pPr>
                <a:defRPr b="0" i="0" strike="noStrike" sz="1200" u="none">
                  <a:solidFill>
                    <a:srgbClr val="1E243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43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EC"/>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回/年</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9680" y="-1645920"/>
            <a:ext cx="5486400" cy="5486400"/>
          </a:xfrm>
          <a:prstGeom prst="ellipse">
            <a:avLst/>
          </a:prstGeom>
          <a:solidFill>
            <a:srgbClr val="065A82">
              <a:alpha val="45000"/>
            </a:srgbClr>
          </a:solidFill>
          <a:ln/>
        </p:spPr>
      </p:sp>
      <p:sp>
        <p:nvSpPr>
          <p:cNvPr id="3" name="Shape 1"/>
          <p:cNvSpPr/>
          <p:nvPr/>
        </p:nvSpPr>
        <p:spPr>
          <a:xfrm>
            <a:off x="10241280" y="4206240"/>
            <a:ext cx="3657600" cy="3657600"/>
          </a:xfrm>
          <a:prstGeom prst="ellipse">
            <a:avLst/>
          </a:prstGeom>
          <a:solidFill>
            <a:srgbClr val="1C7293">
              <a:alpha val="45000"/>
            </a:srgbClr>
          </a:solidFill>
          <a:ln/>
        </p:spPr>
      </p:sp>
      <p:sp>
        <p:nvSpPr>
          <p:cNvPr id="4" name="Text 2"/>
          <p:cNvSpPr txBox="1"/>
          <p:nvPr/>
        </p:nvSpPr>
        <p:spPr>
          <a:xfrm>
            <a:off x="731520" y="640080"/>
            <a:ext cx="9144000" cy="365760"/>
          </a:xfrm>
          <a:prstGeom prst="rect">
            <a:avLst/>
          </a:prstGeom>
          <a:noFill/>
          <a:ln/>
        </p:spPr>
        <p:txBody>
          <a:bodyPr wrap="square" lIns="0" tIns="0" rIns="0" bIns="0" rtlCol="0" anchor="ctr"/>
          <a:lstStyle/>
          <a:p>
            <a:pPr indent="0" marL="0">
              <a:buNone/>
            </a:pPr>
            <a:r>
              <a:rPr lang="en-US" sz="1300" dirty="0">
                <a:solidFill>
                  <a:srgbClr val="CFE3ED"/>
                </a:solidFill>
                <a:latin typeface="Calibri" pitchFamily="34" charset="0"/>
                <a:ea typeface="Calibri" pitchFamily="34" charset="-122"/>
                <a:cs typeface="Calibri" pitchFamily="34" charset="-120"/>
              </a:rPr>
              <a:t>起案文書　豊田市役所　地域活躍部 防災対策課</a:t>
            </a:r>
            <a:endParaRPr lang="en-US" sz="1300" dirty="0"/>
          </a:p>
        </p:txBody>
      </p:sp>
      <p:sp>
        <p:nvSpPr>
          <p:cNvPr id="5" name="Text 3"/>
          <p:cNvSpPr txBox="1"/>
          <p:nvPr/>
        </p:nvSpPr>
        <p:spPr>
          <a:xfrm>
            <a:off x="731520" y="2103120"/>
            <a:ext cx="10515600" cy="1737360"/>
          </a:xfrm>
          <a:prstGeom prst="rect">
            <a:avLst/>
          </a:prstGeom>
          <a:noFill/>
          <a:ln/>
        </p:spPr>
        <p:txBody>
          <a:bodyPr wrap="square" lIns="0" tIns="0" rIns="0" bIns="0" rtlCol="0" anchor="ctr"/>
          <a:lstStyle/>
          <a:p>
            <a:pPr indent="0" marL="0">
              <a:lnSpc>
                <a:spcPct val="115000"/>
              </a:lnSpc>
              <a:buNone/>
            </a:pPr>
            <a:r>
              <a:rPr lang="en-US" sz="4000" b="1" dirty="0">
                <a:solidFill>
                  <a:srgbClr val="FFFFFF"/>
                </a:solidFill>
                <a:latin typeface="Cambria" pitchFamily="34" charset="0"/>
                <a:ea typeface="Cambria" pitchFamily="34" charset="-122"/>
                <a:cs typeface="Cambria" pitchFamily="34" charset="-120"/>
              </a:rPr>
              <a:t>内水氾濫リスク把握・対応マニュアル</a:t>
            </a:r>
            <a:endParaRPr lang="en-US" sz="4000" dirty="0"/>
          </a:p>
          <a:p>
            <a:pPr indent="0" marL="0">
              <a:lnSpc>
                <a:spcPct val="115000"/>
              </a:lnSpc>
              <a:buNone/>
            </a:pPr>
            <a:r>
              <a:rPr lang="en-US" sz="4000" b="1" dirty="0">
                <a:solidFill>
                  <a:srgbClr val="FFFFFF"/>
                </a:solidFill>
                <a:latin typeface="Cambria" pitchFamily="34" charset="0"/>
                <a:ea typeface="Cambria" pitchFamily="34" charset="-122"/>
                <a:cs typeface="Cambria" pitchFamily="34" charset="-120"/>
              </a:rPr>
              <a:t>整備事業（案）</a:t>
            </a:r>
            <a:endParaRPr lang="en-US" sz="4000" dirty="0"/>
          </a:p>
        </p:txBody>
      </p:sp>
      <p:sp>
        <p:nvSpPr>
          <p:cNvPr id="6" name="Text 4"/>
          <p:cNvSpPr txBox="1"/>
          <p:nvPr/>
        </p:nvSpPr>
        <p:spPr>
          <a:xfrm>
            <a:off x="731520" y="3977640"/>
            <a:ext cx="9601200" cy="457200"/>
          </a:xfrm>
          <a:prstGeom prst="rect">
            <a:avLst/>
          </a:prstGeom>
          <a:noFill/>
          <a:ln/>
        </p:spPr>
        <p:txBody>
          <a:bodyPr wrap="square" lIns="0" tIns="0" rIns="0" bIns="0" rtlCol="0" anchor="ctr"/>
          <a:lstStyle/>
          <a:p>
            <a:pPr indent="0" marL="0">
              <a:buNone/>
            </a:pPr>
            <a:r>
              <a:rPr lang="en-US" sz="1700" dirty="0">
                <a:solidFill>
                  <a:srgbClr val="CFE3ED"/>
                </a:solidFill>
                <a:latin typeface="Calibri" pitchFamily="34" charset="0"/>
                <a:ea typeface="Calibri" pitchFamily="34" charset="-122"/>
                <a:cs typeface="Calibri" pitchFamily="34" charset="-120"/>
              </a:rPr>
              <a:t>近年の局地的短時間強雨・記録的短時間大雨への庁内対応力強化</a:t>
            </a:r>
            <a:endParaRPr lang="en-US" sz="1700" dirty="0"/>
          </a:p>
        </p:txBody>
      </p:sp>
      <p:sp>
        <p:nvSpPr>
          <p:cNvPr id="7" name="Shape 5"/>
          <p:cNvSpPr/>
          <p:nvPr/>
        </p:nvSpPr>
        <p:spPr>
          <a:xfrm>
            <a:off x="731520" y="4709160"/>
            <a:ext cx="2926080" cy="0"/>
          </a:xfrm>
          <a:prstGeom prst="line">
            <a:avLst/>
          </a:prstGeom>
          <a:noFill/>
          <a:ln w="25400">
            <a:solidFill>
              <a:srgbClr val="1C7293"/>
            </a:solidFill>
            <a:prstDash val="solid"/>
          </a:ln>
        </p:spPr>
      </p:sp>
      <p:sp>
        <p:nvSpPr>
          <p:cNvPr id="8" name="Text 6"/>
          <p:cNvSpPr txBox="1"/>
          <p:nvPr/>
        </p:nvSpPr>
        <p:spPr>
          <a:xfrm>
            <a:off x="731520" y="4937760"/>
            <a:ext cx="9601200" cy="457200"/>
          </a:xfrm>
          <a:prstGeom prst="rect">
            <a:avLst/>
          </a:prstGeom>
          <a:noFill/>
          <a:ln/>
        </p:spPr>
        <p:txBody>
          <a:bodyPr wrap="square" lIns="0" tIns="0" rIns="0" bIns="0" rtlCol="0" anchor="ctr"/>
          <a:lstStyle/>
          <a:p>
            <a:pPr indent="0" marL="0">
              <a:buNone/>
            </a:pPr>
            <a:r>
              <a:rPr lang="en-US" sz="1300" i="1" dirty="0">
                <a:solidFill>
                  <a:srgbClr val="CFE3ED"/>
                </a:solidFill>
                <a:latin typeface="Calibri" pitchFamily="34" charset="0"/>
                <a:ea typeface="Calibri" pitchFamily="34" charset="-122"/>
                <a:cs typeface="Calibri" pitchFamily="34" charset="-120"/>
              </a:rPr>
              <a:t>対象は堤防決壊等の大規模な河川氾濫（外水氾濫）ではなく、市街地で発生する内水氾濫</a:t>
            </a:r>
            <a:endParaRPr lang="en-US" sz="1300" dirty="0"/>
          </a:p>
        </p:txBody>
      </p:sp>
      <p:sp>
        <p:nvSpPr>
          <p:cNvPr id="9" name="Text 7"/>
          <p:cNvSpPr txBox="1"/>
          <p:nvPr/>
        </p:nvSpPr>
        <p:spPr>
          <a:xfrm>
            <a:off x="731520" y="6126480"/>
            <a:ext cx="4572000" cy="365760"/>
          </a:xfrm>
          <a:prstGeom prst="rect">
            <a:avLst/>
          </a:prstGeom>
          <a:noFill/>
          <a:ln/>
        </p:spPr>
        <p:txBody>
          <a:bodyPr wrap="square" lIns="0" tIns="0" rIns="0" bIns="0" rtlCol="0" anchor="ctr"/>
          <a:lstStyle/>
          <a:p>
            <a:pPr indent="0" marL="0">
              <a:buNone/>
            </a:pPr>
            <a:r>
              <a:rPr lang="en-US" sz="1200" dirty="0">
                <a:solidFill>
                  <a:srgbClr val="CFE3ED"/>
                </a:solidFill>
                <a:latin typeface="Calibri" pitchFamily="34" charset="0"/>
                <a:ea typeface="Calibri" pitchFamily="34" charset="-122"/>
                <a:cs typeface="Calibri" pitchFamily="34" charset="-120"/>
              </a:rPr>
              <a:t>令和8年　　月　　日</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1｜趣旨・背景</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短時間強雨は「まれな現象」から「毎年の現象」へ</a:t>
            </a:r>
            <a:endParaRPr lang="en-US" sz="2800" dirty="0"/>
          </a:p>
        </p:txBody>
      </p:sp>
      <p:sp>
        <p:nvSpPr>
          <p:cNvPr id="4" name="Text 2"/>
          <p:cNvSpPr txBox="1"/>
          <p:nvPr/>
        </p:nvSpPr>
        <p:spPr>
          <a:xfrm>
            <a:off x="548640" y="1554480"/>
            <a:ext cx="6126480" cy="4389120"/>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1E2430"/>
                </a:solidFill>
                <a:latin typeface="Calibri" pitchFamily="34" charset="0"/>
                <a:ea typeface="Calibri" pitchFamily="34" charset="-122"/>
                <a:cs typeface="Calibri" pitchFamily="34" charset="-120"/>
              </a:rPr>
              <a:t>近年、線状降水帯や局地的短時間強雨（ゲリラ豪雨）の発生頻度が全国的に増加</a:t>
            </a:r>
            <a:endParaRPr lang="en-US" sz="1450" dirty="0"/>
          </a:p>
          <a:p>
            <a:pPr marL="228600" indent="-228600">
              <a:spcAft>
                <a:spcPts val="1400"/>
              </a:spcAft>
              <a:buSzPct val="100000"/>
              <a:buChar char="▪"/>
            </a:pPr>
            <a:r>
              <a:rPr lang="en-US" sz="1450" dirty="0">
                <a:solidFill>
                  <a:srgbClr val="1E2430"/>
                </a:solidFill>
                <a:latin typeface="Calibri" pitchFamily="34" charset="0"/>
                <a:ea typeface="Calibri" pitchFamily="34" charset="-122"/>
                <a:cs typeface="Calibri" pitchFamily="34" charset="-120"/>
              </a:rPr>
              <a:t>従来の外水氾濫（河川の堤防決壊）を前提としたハザードマップだけでは対応しきれない「内水氾濫」型の被害が各地で顕在化</a:t>
            </a:r>
            <a:endParaRPr lang="en-US" sz="1450" dirty="0"/>
          </a:p>
          <a:p>
            <a:pPr marL="228600" indent="-228600">
              <a:spcAft>
                <a:spcPts val="1400"/>
              </a:spcAft>
              <a:buSzPct val="100000"/>
              <a:buChar char="▪"/>
            </a:pPr>
            <a:r>
              <a:rPr lang="en-US" sz="1450" dirty="0">
                <a:solidFill>
                  <a:srgbClr val="1E2430"/>
                </a:solidFill>
                <a:latin typeface="Calibri" pitchFamily="34" charset="0"/>
                <a:ea typeface="Calibri" pitchFamily="34" charset="-122"/>
                <a:cs typeface="Calibri" pitchFamily="34" charset="-120"/>
              </a:rPr>
              <a:t>令和8年9月8日には愛知県内で観測史上最大級の記録的豪雨が発生し、名古屋市中心に道路冠水が多発。本市も同一気象条件下にあり、他人事ではない</a:t>
            </a:r>
            <a:endParaRPr lang="en-US" sz="1450" dirty="0"/>
          </a:p>
          <a:p>
            <a:pPr marL="228600" indent="-228600">
              <a:spcAft>
                <a:spcPts val="1400"/>
              </a:spcAft>
              <a:buSzPct val="100000"/>
              <a:buChar char="▪"/>
            </a:pPr>
            <a:r>
              <a:rPr lang="en-US" sz="1450" dirty="0">
                <a:solidFill>
                  <a:srgbClr val="1E2430"/>
                </a:solidFill>
                <a:latin typeface="Calibri" pitchFamily="34" charset="0"/>
                <a:ea typeface="Calibri" pitchFamily="34" charset="-122"/>
                <a:cs typeface="Calibri" pitchFamily="34" charset="-120"/>
              </a:rPr>
              <a:t>本市も昭和47年7月豪雨で小原地区（旧小原村域）に甚大な被害を受けた経験があり、浸水リスクと無縁ではない</a:t>
            </a:r>
            <a:endParaRPr lang="en-US" sz="1450" dirty="0"/>
          </a:p>
        </p:txBody>
      </p:sp>
      <p:sp>
        <p:nvSpPr>
          <p:cNvPr id="5" name="Shape 3"/>
          <p:cNvSpPr/>
          <p:nvPr/>
        </p:nvSpPr>
        <p:spPr>
          <a:xfrm>
            <a:off x="7040880" y="1508760"/>
            <a:ext cx="4572000" cy="4480560"/>
          </a:xfrm>
          <a:prstGeom prst="roundRect">
            <a:avLst>
              <a:gd name="adj" fmla="val 2041"/>
            </a:avLst>
          </a:prstGeom>
          <a:solidFill>
            <a:srgbClr val="F4F8FA"/>
          </a:solidFill>
          <a:ln/>
        </p:spPr>
      </p:sp>
      <p:sp>
        <p:nvSpPr>
          <p:cNvPr id="6" name="Text 4"/>
          <p:cNvSpPr txBox="1"/>
          <p:nvPr/>
        </p:nvSpPr>
        <p:spPr>
          <a:xfrm>
            <a:off x="7315200" y="1737360"/>
            <a:ext cx="4023360" cy="36576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本提案の対象範囲</a:t>
            </a:r>
            <a:endParaRPr lang="en-US" sz="1500" dirty="0"/>
          </a:p>
        </p:txBody>
      </p:sp>
      <p:sp>
        <p:nvSpPr>
          <p:cNvPr id="7" name="Text 5"/>
          <p:cNvSpPr txBox="1"/>
          <p:nvPr/>
        </p:nvSpPr>
        <p:spPr>
          <a:xfrm>
            <a:off x="7315200" y="2240280"/>
            <a:ext cx="4023360" cy="822960"/>
          </a:xfrm>
          <a:prstGeom prst="rect">
            <a:avLst/>
          </a:prstGeom>
          <a:noFill/>
          <a:ln/>
        </p:spPr>
        <p:txBody>
          <a:bodyPr wrap="square" lIns="0" tIns="0" rIns="0" bIns="0" rtlCol="0" anchor="ctr"/>
          <a:lstStyle/>
          <a:p>
            <a:pPr indent="0" marL="0">
              <a:spcAft>
                <a:spcPts val="600"/>
              </a:spcAft>
              <a:buNone/>
            </a:pPr>
            <a:r>
              <a:rPr lang="en-US" sz="1300" b="1" dirty="0">
                <a:solidFill>
                  <a:srgbClr val="065A82"/>
                </a:solidFill>
                <a:latin typeface="Calibri" pitchFamily="34" charset="0"/>
                <a:ea typeface="Calibri" pitchFamily="34" charset="-122"/>
                <a:cs typeface="Calibri" pitchFamily="34" charset="-120"/>
              </a:rPr>
              <a:t>対象：</a:t>
            </a:r>
            <a:pPr indent="0" marL="0">
              <a:spcAft>
                <a:spcPts val="600"/>
              </a:spcAft>
              <a:buNone/>
            </a:pPr>
            <a:r>
              <a:rPr lang="en-US" sz="1300" dirty="0">
                <a:solidFill>
                  <a:srgbClr val="1E2430"/>
                </a:solidFill>
                <a:latin typeface="Calibri" pitchFamily="34" charset="0"/>
                <a:ea typeface="Calibri" pitchFamily="34" charset="-122"/>
                <a:cs typeface="Calibri" pitchFamily="34" charset="-120"/>
              </a:rPr>
              <a:t>内水氾濫（下水道等の排水能力を超えた市街地の浸水）</a:t>
            </a:r>
            <a:endParaRPr lang="en-US" sz="1300" dirty="0"/>
          </a:p>
        </p:txBody>
      </p:sp>
      <p:sp>
        <p:nvSpPr>
          <p:cNvPr id="8" name="Text 6"/>
          <p:cNvSpPr txBox="1"/>
          <p:nvPr/>
        </p:nvSpPr>
        <p:spPr>
          <a:xfrm>
            <a:off x="7315200" y="3063240"/>
            <a:ext cx="4023360" cy="822960"/>
          </a:xfrm>
          <a:prstGeom prst="rect">
            <a:avLst/>
          </a:prstGeom>
          <a:noFill/>
          <a:ln/>
        </p:spPr>
        <p:txBody>
          <a:bodyPr wrap="square" lIns="0" tIns="0" rIns="0" bIns="0" rtlCol="0" anchor="ctr"/>
          <a:lstStyle/>
          <a:p>
            <a:pPr indent="0" marL="0">
              <a:spcAft>
                <a:spcPts val="600"/>
              </a:spcAft>
              <a:buNone/>
            </a:pPr>
            <a:r>
              <a:rPr lang="en-US" sz="1300" b="1" dirty="0">
                <a:solidFill>
                  <a:srgbClr val="5B6B76"/>
                </a:solidFill>
                <a:latin typeface="Calibri" pitchFamily="34" charset="0"/>
                <a:ea typeface="Calibri" pitchFamily="34" charset="-122"/>
                <a:cs typeface="Calibri" pitchFamily="34" charset="-120"/>
              </a:rPr>
              <a:t>対象外：</a:t>
            </a:r>
            <a:pPr indent="0" marL="0">
              <a:spcAft>
                <a:spcPts val="600"/>
              </a:spcAft>
              <a:buNone/>
            </a:pPr>
            <a:r>
              <a:rPr lang="en-US" sz="1300" dirty="0">
                <a:solidFill>
                  <a:srgbClr val="5B6B76"/>
                </a:solidFill>
                <a:latin typeface="Calibri" pitchFamily="34" charset="0"/>
                <a:ea typeface="Calibri" pitchFamily="34" charset="-122"/>
                <a:cs typeface="Calibri" pitchFamily="34" charset="-120"/>
              </a:rPr>
              <a:t>矢作川本川の氾濫等、堤防決壊を伴う大規模な河川氾濫（外水氾濫）</a:t>
            </a:r>
            <a:endParaRPr lang="en-US" sz="1300" dirty="0"/>
          </a:p>
        </p:txBody>
      </p:sp>
      <p:sp>
        <p:nvSpPr>
          <p:cNvPr id="9" name="Shape 7"/>
          <p:cNvSpPr/>
          <p:nvPr/>
        </p:nvSpPr>
        <p:spPr>
          <a:xfrm>
            <a:off x="7315200" y="3977640"/>
            <a:ext cx="3749040" cy="0"/>
          </a:xfrm>
          <a:prstGeom prst="line">
            <a:avLst/>
          </a:prstGeom>
          <a:noFill/>
          <a:ln w="12700">
            <a:solidFill>
              <a:srgbClr val="1C7293"/>
            </a:solidFill>
            <a:prstDash val="dash"/>
          </a:ln>
        </p:spPr>
      </p:sp>
      <p:sp>
        <p:nvSpPr>
          <p:cNvPr id="10" name="Text 8"/>
          <p:cNvSpPr txBox="1"/>
          <p:nvPr/>
        </p:nvSpPr>
        <p:spPr>
          <a:xfrm>
            <a:off x="7315200" y="4160520"/>
            <a:ext cx="4023360" cy="3200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なぜ内水氾濫を優先するのか</a:t>
            </a:r>
            <a:endParaRPr lang="en-US" sz="1400" dirty="0"/>
          </a:p>
        </p:txBody>
      </p:sp>
      <p:sp>
        <p:nvSpPr>
          <p:cNvPr id="11" name="Text 9"/>
          <p:cNvSpPr txBox="1"/>
          <p:nvPr/>
        </p:nvSpPr>
        <p:spPr>
          <a:xfrm>
            <a:off x="7315200" y="4526280"/>
            <a:ext cx="4023360" cy="1371600"/>
          </a:xfrm>
          <a:prstGeom prst="rect">
            <a:avLst/>
          </a:prstGeom>
          <a:noFill/>
          <a:ln/>
        </p:spPr>
        <p:txBody>
          <a:bodyPr wrap="square" lIns="0" tIns="0" rIns="0" bIns="0" rtlCol="0" anchor="t"/>
          <a:lstStyle/>
          <a:p>
            <a:pPr indent="0" marL="0">
              <a:buNone/>
            </a:pPr>
            <a:r>
              <a:rPr lang="en-US" sz="1250" dirty="0">
                <a:solidFill>
                  <a:srgbClr val="1E2430"/>
                </a:solidFill>
                <a:latin typeface="Calibri" pitchFamily="34" charset="0"/>
                <a:ea typeface="Calibri" pitchFamily="34" charset="-122"/>
                <a:cs typeface="Calibri" pitchFamily="34" charset="-120"/>
              </a:rPr>
              <a:t>全国の水害被害額の約4割・浸水棟数の約7割が内水氾濫由来（詳細は次頁）。発生頻度・被害規模のいずれから見ても、庁内対応力強化の優先度が高い。</a:t>
            </a:r>
            <a:endParaRPr lang="en-US" sz="1250" dirty="0"/>
          </a:p>
        </p:txBody>
      </p:sp>
      <p:sp>
        <p:nvSpPr>
          <p:cNvPr id="12" name="Text 1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2｜近年の豪雨傾向（データで見る現状）</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強い雨ほど、増加率が高い</a:t>
            </a:r>
            <a:endParaRPr lang="en-US" sz="2800" dirty="0"/>
          </a:p>
        </p:txBody>
      </p:sp>
      <p:graphicFrame>
        <p:nvGraphicFramePr>
          <p:cNvPr id="4" name="Chart 0" descr=""/>
          <p:cNvGraphicFramePr/>
          <p:nvPr/>
        </p:nvGraphicFramePr>
        <p:xfrm>
          <a:off x="548640" y="160020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52360" y="1600200"/>
            <a:ext cx="2103120" cy="1737360"/>
          </a:xfrm>
          <a:prstGeom prst="roundRect">
            <a:avLst>
              <a:gd name="adj" fmla="val 6316"/>
            </a:avLst>
          </a:prstGeom>
          <a:solidFill>
            <a:srgbClr val="FFFFFF"/>
          </a:solidFill>
          <a:ln w="12700">
            <a:solidFill>
              <a:srgbClr val="065A82"/>
            </a:solidFill>
            <a:prstDash val="solid"/>
          </a:ln>
          <a:effectLst>
            <a:outerShdw sx="100000" sy="100000" kx="0" ky="0" algn="bl" rotWithShape="0" blurRad="76200" dist="25400" dir="5400000">
              <a:srgbClr val="000000">
                <a:alpha val="15000"/>
              </a:srgbClr>
            </a:outerShdw>
          </a:effectLst>
        </p:spPr>
      </p:sp>
      <p:sp>
        <p:nvSpPr>
          <p:cNvPr id="6" name="Text 3"/>
          <p:cNvSpPr txBox="1"/>
          <p:nvPr/>
        </p:nvSpPr>
        <p:spPr>
          <a:xfrm>
            <a:off x="7589520" y="1709928"/>
            <a:ext cx="1828800" cy="1188720"/>
          </a:xfrm>
          <a:prstGeom prst="rect">
            <a:avLst/>
          </a:prstGeom>
          <a:noFill/>
          <a:ln/>
        </p:spPr>
        <p:txBody>
          <a:bodyPr wrap="square" lIns="0" tIns="0" rIns="0" bIns="0" rtlCol="0" anchor="b"/>
          <a:lstStyle/>
          <a:p>
            <a:pPr algn="ctr" indent="0" marL="0">
              <a:buNone/>
            </a:pPr>
            <a:r>
              <a:rPr lang="en-US" sz="3200" b="1" dirty="0">
                <a:solidFill>
                  <a:srgbClr val="1C7293"/>
                </a:solidFill>
                <a:latin typeface="Cambria" pitchFamily="34" charset="0"/>
                <a:ea typeface="Cambria" pitchFamily="34" charset="-122"/>
                <a:cs typeface="Cambria" pitchFamily="34" charset="-120"/>
              </a:rPr>
              <a:t>約1.5倍</a:t>
            </a:r>
            <a:endParaRPr lang="en-US" sz="3200" dirty="0"/>
          </a:p>
          <a:p>
            <a:pPr algn="ctr" indent="0" marL="0">
              <a:buNone/>
            </a:pPr>
            <a:endParaRPr lang="en-US" sz="3200" dirty="0"/>
          </a:p>
        </p:txBody>
      </p:sp>
      <p:sp>
        <p:nvSpPr>
          <p:cNvPr id="7" name="Text 4"/>
          <p:cNvSpPr txBox="1"/>
          <p:nvPr/>
        </p:nvSpPr>
        <p:spPr>
          <a:xfrm>
            <a:off x="7543800" y="2880360"/>
            <a:ext cx="1920240" cy="384048"/>
          </a:xfrm>
          <a:prstGeom prst="rect">
            <a:avLst/>
          </a:prstGeom>
          <a:noFill/>
          <a:ln/>
        </p:spPr>
        <p:txBody>
          <a:bodyPr wrap="square" lIns="0" tIns="0" rIns="0" bIns="0" rtlCol="0" anchor="t"/>
          <a:lstStyle/>
          <a:p>
            <a:pPr algn="ctr" indent="0" marL="0">
              <a:buNone/>
            </a:pPr>
            <a:r>
              <a:rPr lang="en-US" sz="1050" dirty="0">
                <a:solidFill>
                  <a:srgbClr val="1E2430"/>
                </a:solidFill>
                <a:latin typeface="Calibri" pitchFamily="34" charset="0"/>
                <a:ea typeface="Calibri" pitchFamily="34" charset="-122"/>
                <a:cs typeface="Calibri" pitchFamily="34" charset="-120"/>
              </a:rPr>
              <a:t>50mm以上豪雨の増加率</a:t>
            </a:r>
            <a:endParaRPr lang="en-US" sz="1050" dirty="0"/>
          </a:p>
          <a:p>
            <a:pPr algn="ctr" indent="0" marL="0">
              <a:buNone/>
            </a:pPr>
            <a:r>
              <a:rPr lang="en-US" sz="1050" dirty="0">
                <a:solidFill>
                  <a:srgbClr val="1E2430"/>
                </a:solidFill>
                <a:latin typeface="Calibri" pitchFamily="34" charset="0"/>
                <a:ea typeface="Calibri" pitchFamily="34" charset="-122"/>
                <a:cs typeface="Calibri" pitchFamily="34" charset="-120"/>
              </a:rPr>
              <a:t>（226回→334回）</a:t>
            </a:r>
            <a:endParaRPr lang="en-US" sz="1050" dirty="0"/>
          </a:p>
        </p:txBody>
      </p:sp>
      <p:sp>
        <p:nvSpPr>
          <p:cNvPr id="8" name="Shape 5"/>
          <p:cNvSpPr/>
          <p:nvPr/>
        </p:nvSpPr>
        <p:spPr>
          <a:xfrm>
            <a:off x="9692640" y="1600200"/>
            <a:ext cx="2103120" cy="1737360"/>
          </a:xfrm>
          <a:prstGeom prst="roundRect">
            <a:avLst>
              <a:gd name="adj" fmla="val 6316"/>
            </a:avLst>
          </a:prstGeom>
          <a:solidFill>
            <a:srgbClr val="FFFFFF"/>
          </a:solidFill>
          <a:ln w="12700">
            <a:solidFill>
              <a:srgbClr val="065A82"/>
            </a:solidFill>
            <a:prstDash val="solid"/>
          </a:ln>
          <a:effectLst>
            <a:outerShdw sx="100000" sy="100000" kx="0" ky="0" algn="bl" rotWithShape="0" blurRad="76200" dist="25400" dir="5400000">
              <a:srgbClr val="000000">
                <a:alpha val="15000"/>
              </a:srgbClr>
            </a:outerShdw>
          </a:effectLst>
        </p:spPr>
      </p:sp>
      <p:sp>
        <p:nvSpPr>
          <p:cNvPr id="9" name="Text 6"/>
          <p:cNvSpPr txBox="1"/>
          <p:nvPr/>
        </p:nvSpPr>
        <p:spPr>
          <a:xfrm>
            <a:off x="9829800" y="1709928"/>
            <a:ext cx="1828800" cy="1188720"/>
          </a:xfrm>
          <a:prstGeom prst="rect">
            <a:avLst/>
          </a:prstGeom>
          <a:noFill/>
          <a:ln/>
        </p:spPr>
        <p:txBody>
          <a:bodyPr wrap="square" lIns="0" tIns="0" rIns="0" bIns="0" rtlCol="0" anchor="b"/>
          <a:lstStyle/>
          <a:p>
            <a:pPr algn="ctr" indent="0" marL="0">
              <a:buNone/>
            </a:pPr>
            <a:r>
              <a:rPr lang="en-US" sz="3200" b="1" dirty="0">
                <a:solidFill>
                  <a:srgbClr val="065A82"/>
                </a:solidFill>
                <a:latin typeface="Cambria" pitchFamily="34" charset="0"/>
                <a:ea typeface="Cambria" pitchFamily="34" charset="-122"/>
                <a:cs typeface="Cambria" pitchFamily="34" charset="-120"/>
              </a:rPr>
              <a:t>約1.7倍</a:t>
            </a:r>
            <a:endParaRPr lang="en-US" sz="3200" dirty="0"/>
          </a:p>
          <a:p>
            <a:pPr algn="ctr" indent="0" marL="0">
              <a:buNone/>
            </a:pPr>
            <a:endParaRPr lang="en-US" sz="3200" dirty="0"/>
          </a:p>
        </p:txBody>
      </p:sp>
      <p:sp>
        <p:nvSpPr>
          <p:cNvPr id="10" name="Text 7"/>
          <p:cNvSpPr txBox="1"/>
          <p:nvPr/>
        </p:nvSpPr>
        <p:spPr>
          <a:xfrm>
            <a:off x="9784080" y="2880360"/>
            <a:ext cx="1920240" cy="384048"/>
          </a:xfrm>
          <a:prstGeom prst="rect">
            <a:avLst/>
          </a:prstGeom>
          <a:noFill/>
          <a:ln/>
        </p:spPr>
        <p:txBody>
          <a:bodyPr wrap="square" lIns="0" tIns="0" rIns="0" bIns="0" rtlCol="0" anchor="t"/>
          <a:lstStyle/>
          <a:p>
            <a:pPr algn="ctr" indent="0" marL="0">
              <a:buNone/>
            </a:pPr>
            <a:r>
              <a:rPr lang="en-US" sz="1050" dirty="0">
                <a:solidFill>
                  <a:srgbClr val="1E2430"/>
                </a:solidFill>
                <a:latin typeface="Calibri" pitchFamily="34" charset="0"/>
                <a:ea typeface="Calibri" pitchFamily="34" charset="-122"/>
                <a:cs typeface="Calibri" pitchFamily="34" charset="-120"/>
              </a:rPr>
              <a:t>80mm以上豪雨の増加率</a:t>
            </a:r>
            <a:endParaRPr lang="en-US" sz="1050" dirty="0"/>
          </a:p>
          <a:p>
            <a:pPr algn="ctr" indent="0" marL="0">
              <a:buNone/>
            </a:pPr>
            <a:r>
              <a:rPr lang="en-US" sz="1050" dirty="0">
                <a:solidFill>
                  <a:srgbClr val="1E2430"/>
                </a:solidFill>
                <a:latin typeface="Calibri" pitchFamily="34" charset="0"/>
                <a:ea typeface="Calibri" pitchFamily="34" charset="-122"/>
                <a:cs typeface="Calibri" pitchFamily="34" charset="-120"/>
              </a:rPr>
              <a:t>（14回→24回）</a:t>
            </a:r>
            <a:endParaRPr lang="en-US" sz="1050" dirty="0"/>
          </a:p>
        </p:txBody>
      </p:sp>
      <p:sp>
        <p:nvSpPr>
          <p:cNvPr id="11" name="Shape 8"/>
          <p:cNvSpPr/>
          <p:nvPr/>
        </p:nvSpPr>
        <p:spPr>
          <a:xfrm>
            <a:off x="7452360" y="3566160"/>
            <a:ext cx="4343400" cy="2057400"/>
          </a:xfrm>
          <a:prstGeom prst="roundRect">
            <a:avLst>
              <a:gd name="adj" fmla="val 4444"/>
            </a:avLst>
          </a:prstGeom>
          <a:solidFill>
            <a:srgbClr val="F4F8FA"/>
          </a:solidFill>
          <a:ln/>
        </p:spPr>
      </p:sp>
      <p:sp>
        <p:nvSpPr>
          <p:cNvPr id="12" name="Text 9"/>
          <p:cNvSpPr txBox="1"/>
          <p:nvPr/>
        </p:nvSpPr>
        <p:spPr>
          <a:xfrm>
            <a:off x="7680960" y="3703320"/>
            <a:ext cx="3840480" cy="274320"/>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出典</a:t>
            </a:r>
            <a:endParaRPr lang="en-US" sz="1200" dirty="0"/>
          </a:p>
        </p:txBody>
      </p:sp>
      <p:sp>
        <p:nvSpPr>
          <p:cNvPr id="13" name="Text 10"/>
          <p:cNvSpPr txBox="1"/>
          <p:nvPr/>
        </p:nvSpPr>
        <p:spPr>
          <a:xfrm>
            <a:off x="7680960" y="4023360"/>
            <a:ext cx="3840480" cy="1463040"/>
          </a:xfrm>
          <a:prstGeom prst="rect">
            <a:avLst/>
          </a:prstGeom>
          <a:noFill/>
          <a:ln/>
        </p:spPr>
        <p:txBody>
          <a:bodyPr wrap="square" lIns="0" tIns="0" rIns="0" bIns="0" rtlCol="0" anchor="t"/>
          <a:lstStyle/>
          <a:p>
            <a:pPr indent="0" marL="0">
              <a:buNone/>
            </a:pPr>
            <a:r>
              <a:rPr lang="en-US" sz="1050" dirty="0">
                <a:solidFill>
                  <a:srgbClr val="5B6B76"/>
                </a:solidFill>
                <a:latin typeface="Calibri" pitchFamily="34" charset="0"/>
                <a:ea typeface="Calibri" pitchFamily="34" charset="-122"/>
                <a:cs typeface="Calibri" pitchFamily="34" charset="-120"/>
              </a:rPr>
              <a:t>気象庁「日本の気候変動2025－大気と陸・海洋に関する観測・予測評価報告書－」第5章（降水）。全国約1,300地点のアメダスデータにより、統計期間の最初の10年間と直近10年間の年間発生回数を比較したもの。</a:t>
            </a:r>
            <a:endParaRPr lang="en-US" sz="1050" dirty="0"/>
          </a:p>
        </p:txBody>
      </p:sp>
      <p:sp>
        <p:nvSpPr>
          <p:cNvPr id="14" name="Text 11"/>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15"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2｜近年の豪雨傾向（データで見る現状）</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「まれな現象」ではなく「毎年の現象」に</a:t>
            </a:r>
            <a:endParaRPr lang="en-US" sz="2800" dirty="0"/>
          </a:p>
        </p:txBody>
      </p:sp>
      <p:graphicFrame>
        <p:nvGraphicFramePr>
          <p:cNvPr id="4" name="Chart 0" descr=""/>
          <p:cNvGraphicFramePr/>
          <p:nvPr/>
        </p:nvGraphicFramePr>
        <p:xfrm>
          <a:off x="548640" y="160020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623560"/>
            <a:ext cx="6035040" cy="365760"/>
          </a:xfrm>
          <a:prstGeom prst="rect">
            <a:avLst/>
          </a:prstGeom>
          <a:noFill/>
          <a:ln/>
        </p:spPr>
        <p:txBody>
          <a:bodyPr wrap="square" lIns="0" tIns="0" rIns="0" bIns="0" rtlCol="0" anchor="ctr"/>
          <a:lstStyle/>
          <a:p>
            <a:pPr indent="0" marL="0">
              <a:buNone/>
            </a:pPr>
            <a:r>
              <a:rPr lang="en-US" sz="1050" i="1" dirty="0">
                <a:solidFill>
                  <a:srgbClr val="5B6B76"/>
                </a:solidFill>
                <a:latin typeface="Calibri" pitchFamily="34" charset="0"/>
                <a:ea typeface="Calibri" pitchFamily="34" charset="-122"/>
                <a:cs typeface="Calibri" pitchFamily="34" charset="-120"/>
              </a:rPr>
              <a:t>＊過去最多水準の年が近年相次いでいる（発表基準の引き上げを踏まえても実態として重い）</a:t>
            </a:r>
            <a:endParaRPr lang="en-US" sz="1050" dirty="0"/>
          </a:p>
        </p:txBody>
      </p:sp>
      <p:sp>
        <p:nvSpPr>
          <p:cNvPr id="6" name="Shape 3"/>
          <p:cNvSpPr/>
          <p:nvPr/>
        </p:nvSpPr>
        <p:spPr>
          <a:xfrm>
            <a:off x="6903720" y="1600200"/>
            <a:ext cx="4754880" cy="4023360"/>
          </a:xfrm>
          <a:prstGeom prst="roundRect">
            <a:avLst>
              <a:gd name="adj" fmla="val 2273"/>
            </a:avLst>
          </a:prstGeom>
          <a:solidFill>
            <a:srgbClr val="F4F8FA"/>
          </a:solidFill>
          <a:ln/>
        </p:spPr>
      </p:sp>
      <p:sp>
        <p:nvSpPr>
          <p:cNvPr id="7" name="Text 4"/>
          <p:cNvSpPr txBox="1"/>
          <p:nvPr/>
        </p:nvSpPr>
        <p:spPr>
          <a:xfrm>
            <a:off x="7178040" y="1828800"/>
            <a:ext cx="4206240" cy="32004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被害の中身も変化</a:t>
            </a:r>
            <a:endParaRPr lang="en-US" sz="1500" dirty="0"/>
          </a:p>
        </p:txBody>
      </p:sp>
      <p:sp>
        <p:nvSpPr>
          <p:cNvPr id="8" name="Shape 5"/>
          <p:cNvSpPr/>
          <p:nvPr/>
        </p:nvSpPr>
        <p:spPr>
          <a:xfrm>
            <a:off x="7178040" y="2286000"/>
            <a:ext cx="1965960" cy="1600200"/>
          </a:xfrm>
          <a:prstGeom prst="roundRect">
            <a:avLst>
              <a:gd name="adj" fmla="val 6857"/>
            </a:avLst>
          </a:prstGeom>
          <a:solidFill>
            <a:srgbClr val="FFFFFF"/>
          </a:solidFill>
          <a:ln w="12700">
            <a:solidFill>
              <a:srgbClr val="065A82"/>
            </a:solidFill>
            <a:prstDash val="solid"/>
          </a:ln>
          <a:effectLst>
            <a:outerShdw sx="100000" sy="100000" kx="0" ky="0" algn="bl" rotWithShape="0" blurRad="76200" dist="25400" dir="5400000">
              <a:srgbClr val="000000">
                <a:alpha val="15000"/>
              </a:srgbClr>
            </a:outerShdw>
          </a:effectLst>
        </p:spPr>
      </p:sp>
      <p:sp>
        <p:nvSpPr>
          <p:cNvPr id="9" name="Text 6"/>
          <p:cNvSpPr txBox="1"/>
          <p:nvPr/>
        </p:nvSpPr>
        <p:spPr>
          <a:xfrm>
            <a:off x="7315200" y="2395728"/>
            <a:ext cx="1691640" cy="1051560"/>
          </a:xfrm>
          <a:prstGeom prst="rect">
            <a:avLst/>
          </a:prstGeom>
          <a:noFill/>
          <a:ln/>
        </p:spPr>
        <p:txBody>
          <a:bodyPr wrap="square" lIns="0" tIns="0" rIns="0" bIns="0" rtlCol="0" anchor="b"/>
          <a:lstStyle/>
          <a:p>
            <a:pPr algn="ctr" indent="0" marL="0">
              <a:buNone/>
            </a:pPr>
            <a:r>
              <a:rPr lang="en-US" sz="3200" b="1" dirty="0">
                <a:solidFill>
                  <a:srgbClr val="065A82"/>
                </a:solidFill>
                <a:latin typeface="Cambria" pitchFamily="34" charset="0"/>
                <a:ea typeface="Cambria" pitchFamily="34" charset="-122"/>
                <a:cs typeface="Cambria" pitchFamily="34" charset="-120"/>
              </a:rPr>
              <a:t>約41%</a:t>
            </a:r>
            <a:endParaRPr lang="en-US" sz="3200" dirty="0"/>
          </a:p>
          <a:p>
            <a:pPr algn="ctr" indent="0" marL="0">
              <a:buNone/>
            </a:pPr>
            <a:endParaRPr lang="en-US" sz="3200" dirty="0"/>
          </a:p>
        </p:txBody>
      </p:sp>
      <p:sp>
        <p:nvSpPr>
          <p:cNvPr id="10" name="Text 7"/>
          <p:cNvSpPr txBox="1"/>
          <p:nvPr/>
        </p:nvSpPr>
        <p:spPr>
          <a:xfrm>
            <a:off x="7269480" y="3429000"/>
            <a:ext cx="1783080" cy="384048"/>
          </a:xfrm>
          <a:prstGeom prst="rect">
            <a:avLst/>
          </a:prstGeom>
          <a:noFill/>
          <a:ln/>
        </p:spPr>
        <p:txBody>
          <a:bodyPr wrap="square" lIns="0" tIns="0" rIns="0" bIns="0" rtlCol="0" anchor="t"/>
          <a:lstStyle/>
          <a:p>
            <a:pPr algn="ctr" indent="0" marL="0">
              <a:buNone/>
            </a:pPr>
            <a:r>
              <a:rPr lang="en-US" sz="1050" dirty="0">
                <a:solidFill>
                  <a:srgbClr val="1E2430"/>
                </a:solidFill>
                <a:latin typeface="Calibri" pitchFamily="34" charset="0"/>
                <a:ea typeface="Calibri" pitchFamily="34" charset="-122"/>
                <a:cs typeface="Calibri" pitchFamily="34" charset="-120"/>
              </a:rPr>
              <a:t>水害被害額に占める</a:t>
            </a:r>
            <a:endParaRPr lang="en-US" sz="1050" dirty="0"/>
          </a:p>
          <a:p>
            <a:pPr algn="ctr" indent="0" marL="0">
              <a:buNone/>
            </a:pPr>
            <a:r>
              <a:rPr lang="en-US" sz="1050" dirty="0">
                <a:solidFill>
                  <a:srgbClr val="1E2430"/>
                </a:solidFill>
                <a:latin typeface="Calibri" pitchFamily="34" charset="0"/>
                <a:ea typeface="Calibri" pitchFamily="34" charset="-122"/>
                <a:cs typeface="Calibri" pitchFamily="34" charset="-120"/>
              </a:rPr>
              <a:t>内水氾濫の割合</a:t>
            </a:r>
            <a:endParaRPr lang="en-US" sz="1050" dirty="0"/>
          </a:p>
        </p:txBody>
      </p:sp>
      <p:sp>
        <p:nvSpPr>
          <p:cNvPr id="11" name="Shape 8"/>
          <p:cNvSpPr/>
          <p:nvPr/>
        </p:nvSpPr>
        <p:spPr>
          <a:xfrm>
            <a:off x="9326880" y="2286000"/>
            <a:ext cx="1965960" cy="1600200"/>
          </a:xfrm>
          <a:prstGeom prst="roundRect">
            <a:avLst>
              <a:gd name="adj" fmla="val 6857"/>
            </a:avLst>
          </a:prstGeom>
          <a:solidFill>
            <a:srgbClr val="FFFFFF"/>
          </a:solidFill>
          <a:ln w="12700">
            <a:solidFill>
              <a:srgbClr val="065A82"/>
            </a:solidFill>
            <a:prstDash val="solid"/>
          </a:ln>
          <a:effectLst>
            <a:outerShdw sx="100000" sy="100000" kx="0" ky="0" algn="bl" rotWithShape="0" blurRad="76200" dist="25400" dir="5400000">
              <a:srgbClr val="000000">
                <a:alpha val="15000"/>
              </a:srgbClr>
            </a:outerShdw>
          </a:effectLst>
        </p:spPr>
      </p:sp>
      <p:sp>
        <p:nvSpPr>
          <p:cNvPr id="12" name="Text 9"/>
          <p:cNvSpPr txBox="1"/>
          <p:nvPr/>
        </p:nvSpPr>
        <p:spPr>
          <a:xfrm>
            <a:off x="9464040" y="2395728"/>
            <a:ext cx="1691640" cy="1051560"/>
          </a:xfrm>
          <a:prstGeom prst="rect">
            <a:avLst/>
          </a:prstGeom>
          <a:noFill/>
          <a:ln/>
        </p:spPr>
        <p:txBody>
          <a:bodyPr wrap="square" lIns="0" tIns="0" rIns="0" bIns="0" rtlCol="0" anchor="b"/>
          <a:lstStyle/>
          <a:p>
            <a:pPr algn="ctr" indent="0" marL="0">
              <a:buNone/>
            </a:pPr>
            <a:r>
              <a:rPr lang="en-US" sz="3200" b="1" dirty="0">
                <a:solidFill>
                  <a:srgbClr val="1C7293"/>
                </a:solidFill>
                <a:latin typeface="Cambria" pitchFamily="34" charset="0"/>
                <a:ea typeface="Cambria" pitchFamily="34" charset="-122"/>
                <a:cs typeface="Cambria" pitchFamily="34" charset="-120"/>
              </a:rPr>
              <a:t>約68%</a:t>
            </a:r>
            <a:endParaRPr lang="en-US" sz="3200" dirty="0"/>
          </a:p>
          <a:p>
            <a:pPr algn="ctr" indent="0" marL="0">
              <a:buNone/>
            </a:pPr>
            <a:endParaRPr lang="en-US" sz="3200" dirty="0"/>
          </a:p>
        </p:txBody>
      </p:sp>
      <p:sp>
        <p:nvSpPr>
          <p:cNvPr id="13" name="Text 10"/>
          <p:cNvSpPr txBox="1"/>
          <p:nvPr/>
        </p:nvSpPr>
        <p:spPr>
          <a:xfrm>
            <a:off x="9418320" y="3429000"/>
            <a:ext cx="1783080" cy="384048"/>
          </a:xfrm>
          <a:prstGeom prst="rect">
            <a:avLst/>
          </a:prstGeom>
          <a:noFill/>
          <a:ln/>
        </p:spPr>
        <p:txBody>
          <a:bodyPr wrap="square" lIns="0" tIns="0" rIns="0" bIns="0" rtlCol="0" anchor="t"/>
          <a:lstStyle/>
          <a:p>
            <a:pPr algn="ctr" indent="0" marL="0">
              <a:buNone/>
            </a:pPr>
            <a:r>
              <a:rPr lang="en-US" sz="1050" dirty="0">
                <a:solidFill>
                  <a:srgbClr val="1E2430"/>
                </a:solidFill>
                <a:latin typeface="Calibri" pitchFamily="34" charset="0"/>
                <a:ea typeface="Calibri" pitchFamily="34" charset="-122"/>
                <a:cs typeface="Calibri" pitchFamily="34" charset="-120"/>
              </a:rPr>
              <a:t>浸水棟数に占める</a:t>
            </a:r>
            <a:endParaRPr lang="en-US" sz="1050" dirty="0"/>
          </a:p>
          <a:p>
            <a:pPr algn="ctr" indent="0" marL="0">
              <a:buNone/>
            </a:pPr>
            <a:r>
              <a:rPr lang="en-US" sz="1050" dirty="0">
                <a:solidFill>
                  <a:srgbClr val="1E2430"/>
                </a:solidFill>
                <a:latin typeface="Calibri" pitchFamily="34" charset="0"/>
                <a:ea typeface="Calibri" pitchFamily="34" charset="-122"/>
                <a:cs typeface="Calibri" pitchFamily="34" charset="-120"/>
              </a:rPr>
              <a:t>内水氾濫の割合</a:t>
            </a:r>
            <a:endParaRPr lang="en-US" sz="1050" dirty="0"/>
          </a:p>
        </p:txBody>
      </p:sp>
      <p:sp>
        <p:nvSpPr>
          <p:cNvPr id="14" name="Text 11"/>
          <p:cNvSpPr txBox="1"/>
          <p:nvPr/>
        </p:nvSpPr>
        <p:spPr>
          <a:xfrm>
            <a:off x="7178040" y="4023360"/>
            <a:ext cx="4206240" cy="548640"/>
          </a:xfrm>
          <a:prstGeom prst="rect">
            <a:avLst/>
          </a:prstGeom>
          <a:noFill/>
          <a:ln/>
        </p:spPr>
        <p:txBody>
          <a:bodyPr wrap="square" lIns="0" tIns="0" rIns="0" bIns="0" rtlCol="0" anchor="t"/>
          <a:lstStyle/>
          <a:p>
            <a:pPr indent="0" marL="0">
              <a:buNone/>
            </a:pPr>
            <a:r>
              <a:rPr lang="en-US" sz="1050" dirty="0">
                <a:solidFill>
                  <a:srgbClr val="5B6B76"/>
                </a:solidFill>
                <a:latin typeface="Calibri" pitchFamily="34" charset="0"/>
                <a:ea typeface="Calibri" pitchFamily="34" charset="-122"/>
                <a:cs typeface="Calibri" pitchFamily="34" charset="-120"/>
              </a:rPr>
              <a:t>（過去10年間の全国集計。都市部ではさらに高比率　例：東京都は被害額の約71%）</a:t>
            </a:r>
            <a:endParaRPr lang="en-US" sz="1050" dirty="0"/>
          </a:p>
        </p:txBody>
      </p:sp>
      <p:sp>
        <p:nvSpPr>
          <p:cNvPr id="15" name="Text 12"/>
          <p:cNvSpPr txBox="1"/>
          <p:nvPr/>
        </p:nvSpPr>
        <p:spPr>
          <a:xfrm>
            <a:off x="7178040" y="4892040"/>
            <a:ext cx="4206240" cy="640080"/>
          </a:xfrm>
          <a:prstGeom prst="rect">
            <a:avLst/>
          </a:prstGeom>
          <a:noFill/>
          <a:ln/>
        </p:spPr>
        <p:txBody>
          <a:bodyPr wrap="square" lIns="0" tIns="0" rIns="0" bIns="0" rtlCol="0" anchor="t"/>
          <a:lstStyle/>
          <a:p>
            <a:pPr indent="0" marL="0">
              <a:buNone/>
            </a:pPr>
            <a:r>
              <a:rPr lang="en-US" sz="1000" dirty="0">
                <a:solidFill>
                  <a:srgbClr val="5B6B76"/>
                </a:solidFill>
                <a:latin typeface="Calibri" pitchFamily="34" charset="0"/>
                <a:ea typeface="Calibri" pitchFamily="34" charset="-122"/>
                <a:cs typeface="Calibri" pitchFamily="34" charset="-120"/>
              </a:rPr>
              <a:t>出典：国土交通省「水害統計」（平成20〜29年の10年間集計）及び水管理・国土保全局資料</a:t>
            </a:r>
            <a:endParaRPr lang="en-US" sz="1000" dirty="0"/>
          </a:p>
        </p:txBody>
      </p:sp>
      <p:sp>
        <p:nvSpPr>
          <p:cNvPr id="16" name="Text 1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17" name="Text 1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3｜本市の現状</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「個別の備え」はある。「庁内としての運用」がない</a:t>
            </a:r>
            <a:endParaRPr lang="en-US" sz="2800" dirty="0"/>
          </a:p>
        </p:txBody>
      </p:sp>
      <p:sp>
        <p:nvSpPr>
          <p:cNvPr id="4" name="Text 2"/>
          <p:cNvSpPr txBox="1"/>
          <p:nvPr/>
        </p:nvSpPr>
        <p:spPr>
          <a:xfrm>
            <a:off x="548640" y="1554480"/>
            <a:ext cx="5486400" cy="365760"/>
          </a:xfrm>
          <a:prstGeom prst="rect">
            <a:avLst/>
          </a:prstGeom>
          <a:noFill/>
          <a:ln/>
        </p:spPr>
        <p:txBody>
          <a:bodyPr wrap="square" lIns="0" tIns="0" rIns="0" bIns="0" rtlCol="0" anchor="ctr"/>
          <a:lstStyle/>
          <a:p>
            <a:pPr indent="0" marL="0">
              <a:buNone/>
            </a:pPr>
            <a:r>
              <a:rPr lang="en-US" sz="1600" b="1" dirty="0">
                <a:solidFill>
                  <a:srgbClr val="065A82"/>
                </a:solidFill>
                <a:latin typeface="Cambria" pitchFamily="34" charset="0"/>
                <a:ea typeface="Cambria" pitchFamily="34" charset="-122"/>
                <a:cs typeface="Cambria" pitchFamily="34" charset="-120"/>
              </a:rPr>
              <a:t>すでに講じている個別対策</a:t>
            </a:r>
            <a:endParaRPr lang="en-US" sz="1600" dirty="0"/>
          </a:p>
        </p:txBody>
      </p:sp>
      <p:sp>
        <p:nvSpPr>
          <p:cNvPr id="5" name="Text 3"/>
          <p:cNvSpPr txBox="1"/>
          <p:nvPr/>
        </p:nvSpPr>
        <p:spPr>
          <a:xfrm>
            <a:off x="548640" y="2011680"/>
            <a:ext cx="5486400" cy="393192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洪水ハザードマップで「内水氾濫による浸水」を河川氾濫と区分して図示</a:t>
            </a:r>
            <a:endParaRPr lang="en-US" sz="1350" dirty="0"/>
          </a:p>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内水浸水想定区域図（計画降雨）・雨水出水浸水想定区域図（想定最大規模降雨）を整備</a:t>
            </a:r>
            <a:endParaRPr lang="en-US" sz="1350" dirty="0"/>
          </a:p>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冠水想定アンダーパスへのエアー遮断機・電光表示板の設置（鴛鴨町石根、生駒町宝ほか）</a:t>
            </a:r>
            <a:endParaRPr lang="en-US" sz="1350" dirty="0"/>
          </a:p>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永覚町須池、上丘町長根、御幸町1丁目等、冠水実績のある箇所を個別に把握</a:t>
            </a:r>
            <a:endParaRPr lang="en-US" sz="1350" dirty="0"/>
          </a:p>
        </p:txBody>
      </p:sp>
      <p:sp>
        <p:nvSpPr>
          <p:cNvPr id="6" name="Shape 4"/>
          <p:cNvSpPr/>
          <p:nvPr/>
        </p:nvSpPr>
        <p:spPr>
          <a:xfrm>
            <a:off x="6309360" y="1645920"/>
            <a:ext cx="0" cy="4572000"/>
          </a:xfrm>
          <a:prstGeom prst="line">
            <a:avLst/>
          </a:prstGeom>
          <a:noFill/>
          <a:ln w="19050">
            <a:solidFill>
              <a:srgbClr val="DCE3E8"/>
            </a:solidFill>
            <a:prstDash val="solid"/>
          </a:ln>
        </p:spPr>
      </p:sp>
      <p:sp>
        <p:nvSpPr>
          <p:cNvPr id="7" name="Text 5"/>
          <p:cNvSpPr txBox="1"/>
          <p:nvPr/>
        </p:nvSpPr>
        <p:spPr>
          <a:xfrm>
            <a:off x="6583680" y="1554480"/>
            <a:ext cx="5029200" cy="365760"/>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しかし、庁内としての「運用」は未整理</a:t>
            </a:r>
            <a:endParaRPr lang="en-US" sz="1600" dirty="0"/>
          </a:p>
        </p:txBody>
      </p:sp>
      <p:sp>
        <p:nvSpPr>
          <p:cNvPr id="8" name="Text 6"/>
          <p:cNvSpPr txBox="1"/>
          <p:nvPr/>
        </p:nvSpPr>
        <p:spPr>
          <a:xfrm>
            <a:off x="6583680" y="2011680"/>
            <a:ext cx="5029200" cy="393192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これらの情報・設備は所管部署ごとに個別最適で整備 → 部署横断で統合されていない</a:t>
            </a:r>
            <a:endParaRPr lang="en-US" sz="1350" dirty="0"/>
          </a:p>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豪雨発生時に「誰が」「何を」「どの基準で」確認・判断するかが不明確</a:t>
            </a:r>
            <a:endParaRPr lang="en-US" sz="1350" dirty="0"/>
          </a:p>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参集基準・部署別役割分担が明文化されておらず、対応が属人化</a:t>
            </a:r>
            <a:endParaRPr lang="en-US" sz="1350" dirty="0"/>
          </a:p>
          <a:p>
            <a:pPr marL="228600" indent="-228600">
              <a:spcAft>
                <a:spcPts val="1200"/>
              </a:spcAft>
              <a:buSzPct val="100000"/>
              <a:buChar char="▪"/>
            </a:pPr>
            <a:r>
              <a:rPr lang="en-US" sz="1350" dirty="0">
                <a:solidFill>
                  <a:srgbClr val="1E2430"/>
                </a:solidFill>
                <a:latin typeface="Calibri" pitchFamily="34" charset="0"/>
                <a:ea typeface="Calibri" pitchFamily="34" charset="-122"/>
                <a:cs typeface="Calibri" pitchFamily="34" charset="-120"/>
              </a:rPr>
              <a:t>担当者の異動・不在時に組織として対応力を維持できない構造的な脆弱性</a:t>
            </a:r>
            <a:endParaRPr lang="en-US" sz="1350" dirty="0"/>
          </a:p>
        </p:txBody>
      </p:sp>
      <p:sp>
        <p:nvSpPr>
          <p:cNvPr id="9" name="Text 7"/>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10" name="Text 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4｜事業実施の必要性</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「望ましい取組み」ではなく「今、着手すべき取組み」</a:t>
            </a:r>
            <a:endParaRPr lang="en-US" sz="2800" dirty="0"/>
          </a:p>
        </p:txBody>
      </p:sp>
      <p:sp>
        <p:nvSpPr>
          <p:cNvPr id="4" name="Shape 2"/>
          <p:cNvSpPr/>
          <p:nvPr/>
        </p:nvSpPr>
        <p:spPr>
          <a:xfrm>
            <a:off x="548640" y="1600200"/>
            <a:ext cx="5349240" cy="1965960"/>
          </a:xfrm>
          <a:prstGeom prst="roundRect">
            <a:avLst>
              <a:gd name="adj" fmla="val 3721"/>
            </a:avLst>
          </a:prstGeom>
          <a:solidFill>
            <a:srgbClr val="F4F8FA"/>
          </a:solidFill>
          <a:ln/>
        </p:spPr>
      </p:sp>
      <p:sp>
        <p:nvSpPr>
          <p:cNvPr id="5" name="Shape 3"/>
          <p:cNvSpPr/>
          <p:nvPr/>
        </p:nvSpPr>
        <p:spPr>
          <a:xfrm>
            <a:off x="777240" y="1828800"/>
            <a:ext cx="457200" cy="457200"/>
          </a:xfrm>
          <a:prstGeom prst="roundRect">
            <a:avLst>
              <a:gd name="adj" fmla="val 100000"/>
            </a:avLst>
          </a:prstGeom>
          <a:solidFill>
            <a:srgbClr val="065A82"/>
          </a:solidFill>
          <a:ln/>
        </p:spPr>
      </p:sp>
      <p:sp>
        <p:nvSpPr>
          <p:cNvPr id="6"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417320" y="1801368"/>
            <a:ext cx="425196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対応しないリスク</a:t>
            </a:r>
            <a:endParaRPr lang="en-US" sz="1500" dirty="0"/>
          </a:p>
        </p:txBody>
      </p:sp>
      <p:sp>
        <p:nvSpPr>
          <p:cNvPr id="8" name="Text 6"/>
          <p:cNvSpPr txBox="1"/>
          <p:nvPr/>
        </p:nvSpPr>
        <p:spPr>
          <a:xfrm>
            <a:off x="868680" y="2377440"/>
            <a:ext cx="4709160" cy="1051560"/>
          </a:xfrm>
          <a:prstGeom prst="rect">
            <a:avLst/>
          </a:prstGeom>
          <a:noFill/>
          <a:ln/>
        </p:spPr>
        <p:txBody>
          <a:bodyPr wrap="square" lIns="0" tIns="0" rIns="0" bIns="0" rtlCol="0" anchor="t"/>
          <a:lstStyle/>
          <a:p>
            <a:pPr indent="0" marL="0">
              <a:buNone/>
            </a:pPr>
            <a:r>
              <a:rPr lang="en-US" sz="1200" dirty="0">
                <a:solidFill>
                  <a:srgbClr val="1E2430"/>
                </a:solidFill>
                <a:latin typeface="Calibri" pitchFamily="34" charset="0"/>
                <a:ea typeface="Calibri" pitchFamily="34" charset="-122"/>
                <a:cs typeface="Calibri" pitchFamily="34" charset="-120"/>
              </a:rPr>
              <a:t>初動対応の遅れが被害拡大に直結し、事後的に説明責任を問われる。属人化した体制はいつ機能しなくなってもおかしくない。</a:t>
            </a:r>
            <a:endParaRPr lang="en-US" sz="1200" dirty="0"/>
          </a:p>
        </p:txBody>
      </p:sp>
      <p:sp>
        <p:nvSpPr>
          <p:cNvPr id="9" name="Shape 7"/>
          <p:cNvSpPr/>
          <p:nvPr/>
        </p:nvSpPr>
        <p:spPr>
          <a:xfrm>
            <a:off x="6217920" y="1600200"/>
            <a:ext cx="5349240" cy="1965960"/>
          </a:xfrm>
          <a:prstGeom prst="roundRect">
            <a:avLst>
              <a:gd name="adj" fmla="val 3721"/>
            </a:avLst>
          </a:prstGeom>
          <a:solidFill>
            <a:srgbClr val="F4F8FA"/>
          </a:solidFill>
          <a:ln/>
        </p:spPr>
      </p:sp>
      <p:sp>
        <p:nvSpPr>
          <p:cNvPr id="10" name="Shape 8"/>
          <p:cNvSpPr/>
          <p:nvPr/>
        </p:nvSpPr>
        <p:spPr>
          <a:xfrm>
            <a:off x="6446520" y="1828800"/>
            <a:ext cx="457200" cy="457200"/>
          </a:xfrm>
          <a:prstGeom prst="roundRect">
            <a:avLst>
              <a:gd name="adj" fmla="val 100000"/>
            </a:avLst>
          </a:prstGeom>
          <a:solidFill>
            <a:srgbClr val="065A82"/>
          </a:solidFill>
          <a:ln/>
        </p:spPr>
      </p:sp>
      <p:sp>
        <p:nvSpPr>
          <p:cNvPr id="11" name="Text 9"/>
          <p:cNvSpPr txBox="1"/>
          <p:nvPr/>
        </p:nvSpPr>
        <p:spPr>
          <a:xfrm>
            <a:off x="6446520" y="1828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7086600" y="1801368"/>
            <a:ext cx="425196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コストの比較</a:t>
            </a:r>
            <a:endParaRPr lang="en-US" sz="1500" dirty="0"/>
          </a:p>
        </p:txBody>
      </p:sp>
      <p:sp>
        <p:nvSpPr>
          <p:cNvPr id="13" name="Text 11"/>
          <p:cNvSpPr txBox="1"/>
          <p:nvPr/>
        </p:nvSpPr>
        <p:spPr>
          <a:xfrm>
            <a:off x="6537960" y="2377440"/>
            <a:ext cx="4709160" cy="1051560"/>
          </a:xfrm>
          <a:prstGeom prst="rect">
            <a:avLst/>
          </a:prstGeom>
          <a:noFill/>
          <a:ln/>
        </p:spPr>
        <p:txBody>
          <a:bodyPr wrap="square" lIns="0" tIns="0" rIns="0" bIns="0" rtlCol="0" anchor="t"/>
          <a:lstStyle/>
          <a:p>
            <a:pPr indent="0" marL="0">
              <a:buNone/>
            </a:pPr>
            <a:r>
              <a:rPr lang="en-US" sz="1200" dirty="0">
                <a:solidFill>
                  <a:srgbClr val="1E2430"/>
                </a:solidFill>
                <a:latin typeface="Calibri" pitchFamily="34" charset="0"/>
                <a:ea typeface="Calibri" pitchFamily="34" charset="-122"/>
                <a:cs typeface="Calibri" pitchFamily="34" charset="-120"/>
              </a:rPr>
              <a:t>内水氾濫被害は年平均約700億円規模（全国）。本事業は内製中心で低コスト。事前投資としての費用対効果は極めて高い。</a:t>
            </a:r>
            <a:endParaRPr lang="en-US" sz="1200" dirty="0"/>
          </a:p>
        </p:txBody>
      </p:sp>
      <p:sp>
        <p:nvSpPr>
          <p:cNvPr id="14" name="Shape 12"/>
          <p:cNvSpPr/>
          <p:nvPr/>
        </p:nvSpPr>
        <p:spPr>
          <a:xfrm>
            <a:off x="548640" y="3840480"/>
            <a:ext cx="5349240" cy="1965960"/>
          </a:xfrm>
          <a:prstGeom prst="roundRect">
            <a:avLst>
              <a:gd name="adj" fmla="val 3721"/>
            </a:avLst>
          </a:prstGeom>
          <a:solidFill>
            <a:srgbClr val="F4F8FA"/>
          </a:solidFill>
          <a:ln/>
        </p:spPr>
      </p:sp>
      <p:sp>
        <p:nvSpPr>
          <p:cNvPr id="15" name="Shape 13"/>
          <p:cNvSpPr/>
          <p:nvPr/>
        </p:nvSpPr>
        <p:spPr>
          <a:xfrm>
            <a:off x="777240" y="4069080"/>
            <a:ext cx="457200" cy="457200"/>
          </a:xfrm>
          <a:prstGeom prst="roundRect">
            <a:avLst>
              <a:gd name="adj" fmla="val 100000"/>
            </a:avLst>
          </a:prstGeom>
          <a:solidFill>
            <a:srgbClr val="065A82"/>
          </a:solidFill>
          <a:ln/>
        </p:spPr>
      </p:sp>
      <p:sp>
        <p:nvSpPr>
          <p:cNvPr id="16" name="Text 14"/>
          <p:cNvSpPr txBox="1"/>
          <p:nvPr/>
        </p:nvSpPr>
        <p:spPr>
          <a:xfrm>
            <a:off x="777240" y="4069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1417320" y="4041648"/>
            <a:ext cx="425196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国の政策動向</a:t>
            </a:r>
            <a:endParaRPr lang="en-US" sz="1500" dirty="0"/>
          </a:p>
        </p:txBody>
      </p:sp>
      <p:sp>
        <p:nvSpPr>
          <p:cNvPr id="18" name="Text 16"/>
          <p:cNvSpPr txBox="1"/>
          <p:nvPr/>
        </p:nvSpPr>
        <p:spPr>
          <a:xfrm>
            <a:off x="868680" y="4617720"/>
            <a:ext cx="4709160" cy="1051560"/>
          </a:xfrm>
          <a:prstGeom prst="rect">
            <a:avLst/>
          </a:prstGeom>
          <a:noFill/>
          <a:ln/>
        </p:spPr>
        <p:txBody>
          <a:bodyPr wrap="square" lIns="0" tIns="0" rIns="0" bIns="0" rtlCol="0" anchor="t"/>
          <a:lstStyle/>
          <a:p>
            <a:pPr indent="0" marL="0">
              <a:buNone/>
            </a:pPr>
            <a:r>
              <a:rPr lang="en-US" sz="1200" dirty="0">
                <a:solidFill>
                  <a:srgbClr val="1E2430"/>
                </a:solidFill>
                <a:latin typeface="Calibri" pitchFamily="34" charset="0"/>
                <a:ea typeface="Calibri" pitchFamily="34" charset="-122"/>
                <a:cs typeface="Calibri" pitchFamily="34" charset="-120"/>
              </a:rPr>
              <a:t>令和3年の流域治水関連法以降、国は自治体自身にも内水対策を含む総合的な水災害対策を求めている。</a:t>
            </a:r>
            <a:endParaRPr lang="en-US" sz="1200" dirty="0"/>
          </a:p>
        </p:txBody>
      </p:sp>
      <p:sp>
        <p:nvSpPr>
          <p:cNvPr id="19" name="Shape 17"/>
          <p:cNvSpPr/>
          <p:nvPr/>
        </p:nvSpPr>
        <p:spPr>
          <a:xfrm>
            <a:off x="6217920" y="3840480"/>
            <a:ext cx="5349240" cy="1965960"/>
          </a:xfrm>
          <a:prstGeom prst="roundRect">
            <a:avLst>
              <a:gd name="adj" fmla="val 3721"/>
            </a:avLst>
          </a:prstGeom>
          <a:solidFill>
            <a:srgbClr val="F4F8FA"/>
          </a:solidFill>
          <a:ln/>
        </p:spPr>
      </p:sp>
      <p:sp>
        <p:nvSpPr>
          <p:cNvPr id="20" name="Shape 18"/>
          <p:cNvSpPr/>
          <p:nvPr/>
        </p:nvSpPr>
        <p:spPr>
          <a:xfrm>
            <a:off x="6446520" y="4069080"/>
            <a:ext cx="457200" cy="457200"/>
          </a:xfrm>
          <a:prstGeom prst="roundRect">
            <a:avLst>
              <a:gd name="adj" fmla="val 100000"/>
            </a:avLst>
          </a:prstGeom>
          <a:solidFill>
            <a:srgbClr val="065A82"/>
          </a:solidFill>
          <a:ln/>
        </p:spPr>
      </p:sp>
      <p:sp>
        <p:nvSpPr>
          <p:cNvPr id="21" name="Text 19"/>
          <p:cNvSpPr txBox="1"/>
          <p:nvPr/>
        </p:nvSpPr>
        <p:spPr>
          <a:xfrm>
            <a:off x="6446520" y="4069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7086600" y="4041648"/>
            <a:ext cx="425196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他自治体の動向</a:t>
            </a:r>
            <a:endParaRPr lang="en-US" sz="1500" dirty="0"/>
          </a:p>
        </p:txBody>
      </p:sp>
      <p:sp>
        <p:nvSpPr>
          <p:cNvPr id="23" name="Text 21"/>
          <p:cNvSpPr txBox="1"/>
          <p:nvPr/>
        </p:nvSpPr>
        <p:spPr>
          <a:xfrm>
            <a:off x="6537960" y="4617720"/>
            <a:ext cx="4709160" cy="1051560"/>
          </a:xfrm>
          <a:prstGeom prst="rect">
            <a:avLst/>
          </a:prstGeom>
          <a:noFill/>
          <a:ln/>
        </p:spPr>
        <p:txBody>
          <a:bodyPr wrap="square" lIns="0" tIns="0" rIns="0" bIns="0" rtlCol="0" anchor="t"/>
          <a:lstStyle/>
          <a:p>
            <a:pPr indent="0" marL="0">
              <a:buNone/>
            </a:pPr>
            <a:r>
              <a:rPr lang="en-US" sz="1200" dirty="0">
                <a:solidFill>
                  <a:srgbClr val="1E2430"/>
                </a:solidFill>
                <a:latin typeface="Calibri" pitchFamily="34" charset="0"/>
                <a:ea typeface="Calibri" pitchFamily="34" charset="-122"/>
                <a:cs typeface="Calibri" pitchFamily="34" charset="-120"/>
              </a:rPr>
              <a:t>内水版ハザードマップ・庁内対応マニュアルの整備を先行する自治体が増加。対応の先送りは自治体間の対応力格差につながる。</a:t>
            </a:r>
            <a:endParaRPr lang="en-US" sz="1200" dirty="0"/>
          </a:p>
        </p:txBody>
      </p:sp>
      <p:sp>
        <p:nvSpPr>
          <p:cNvPr id="24" name="Text 22"/>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5｜提案内容</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内水氾濫に特化した3本柱</a:t>
            </a:r>
            <a:endParaRPr lang="en-US" sz="2800" dirty="0"/>
          </a:p>
        </p:txBody>
      </p:sp>
      <p:sp>
        <p:nvSpPr>
          <p:cNvPr id="4" name="Shape 2"/>
          <p:cNvSpPr/>
          <p:nvPr/>
        </p:nvSpPr>
        <p:spPr>
          <a:xfrm>
            <a:off x="548640" y="1600200"/>
            <a:ext cx="3611880" cy="4206240"/>
          </a:xfrm>
          <a:prstGeom prst="roundRect">
            <a:avLst>
              <a:gd name="adj" fmla="val 2025"/>
            </a:avLst>
          </a:prstGeom>
          <a:solidFill>
            <a:srgbClr val="F4F8FA"/>
          </a:solidFill>
          <a:ln/>
        </p:spPr>
      </p:sp>
      <p:sp>
        <p:nvSpPr>
          <p:cNvPr id="5" name="Shape 3"/>
          <p:cNvSpPr/>
          <p:nvPr/>
        </p:nvSpPr>
        <p:spPr>
          <a:xfrm>
            <a:off x="822960" y="1874520"/>
            <a:ext cx="548640" cy="548640"/>
          </a:xfrm>
          <a:prstGeom prst="ellipse">
            <a:avLst/>
          </a:prstGeom>
          <a:solidFill>
            <a:srgbClr val="065A82"/>
          </a:solidFill>
          <a:ln/>
        </p:spPr>
      </p:sp>
      <p:sp>
        <p:nvSpPr>
          <p:cNvPr id="6" name="Text 4"/>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822960" y="2560320"/>
            <a:ext cx="3063240" cy="54864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水災リスクの把握</a:t>
            </a:r>
            <a:endParaRPr lang="en-US" sz="1700" dirty="0"/>
          </a:p>
        </p:txBody>
      </p:sp>
      <p:sp>
        <p:nvSpPr>
          <p:cNvPr id="8" name="Text 6"/>
          <p:cNvSpPr txBox="1"/>
          <p:nvPr/>
        </p:nvSpPr>
        <p:spPr>
          <a:xfrm>
            <a:off x="822960" y="3200400"/>
            <a:ext cx="3063240" cy="2377440"/>
          </a:xfrm>
          <a:prstGeom prst="rect">
            <a:avLst/>
          </a:prstGeom>
          <a:noFill/>
          <a:ln/>
        </p:spPr>
        <p:txBody>
          <a:bodyPr wrap="square" lIns="0" tIns="0" rIns="0" bIns="0" rtlCol="0" anchor="t"/>
          <a:lstStyle/>
          <a:p>
            <a:pPr marL="203200" indent="-203200">
              <a:spcAft>
                <a:spcPts val="1000"/>
              </a:spcAft>
              <a:buSzPct val="100000"/>
              <a:buChar char="▪"/>
            </a:pPr>
            <a:r>
              <a:rPr lang="en-US" sz="1150" dirty="0">
                <a:solidFill>
                  <a:srgbClr val="1E2430"/>
                </a:solidFill>
                <a:latin typeface="Calibri" pitchFamily="34" charset="0"/>
                <a:ea typeface="Calibri" pitchFamily="34" charset="-122"/>
                <a:cs typeface="Calibri" pitchFamily="34" charset="-120"/>
              </a:rPr>
              <a:t>既存の洪水ハザードマップ・想定区域図・冠水実績箇所を部署横断で統合整理</a:t>
            </a:r>
            <a:endParaRPr lang="en-US" sz="1150" dirty="0"/>
          </a:p>
          <a:p>
            <a:pPr marL="203200" indent="-203200">
              <a:spcAft>
                <a:spcPts val="1000"/>
              </a:spcAft>
              <a:buSzPct val="100000"/>
              <a:buChar char="▪"/>
            </a:pPr>
            <a:r>
              <a:rPr lang="en-US" sz="1150" dirty="0">
                <a:solidFill>
                  <a:srgbClr val="1E2430"/>
                </a:solidFill>
                <a:latin typeface="Calibri" pitchFamily="34" charset="0"/>
                <a:ea typeface="Calibri" pitchFamily="34" charset="-122"/>
                <a:cs typeface="Calibri" pitchFamily="34" charset="-120"/>
              </a:rPr>
              <a:t>要配慮者施設・地下施設・低地部等、優先確認箇所のリスト化</a:t>
            </a:r>
            <a:endParaRPr lang="en-US" sz="1150" dirty="0"/>
          </a:p>
          <a:p>
            <a:pPr marL="203200" indent="-203200">
              <a:spcAft>
                <a:spcPts val="1000"/>
              </a:spcAft>
              <a:buSzPct val="100000"/>
              <a:buChar char="▪"/>
            </a:pPr>
            <a:r>
              <a:rPr lang="en-US" sz="1150" dirty="0">
                <a:solidFill>
                  <a:srgbClr val="1E2430"/>
                </a:solidFill>
                <a:latin typeface="Calibri" pitchFamily="34" charset="0"/>
                <a:ea typeface="Calibri" pitchFamily="34" charset="-122"/>
                <a:cs typeface="Calibri" pitchFamily="34" charset="-120"/>
              </a:rPr>
              <a:t>過去の内水氾濫・道路冠水の被害履歴を収集整理</a:t>
            </a:r>
            <a:endParaRPr lang="en-US" sz="1150" dirty="0"/>
          </a:p>
        </p:txBody>
      </p:sp>
      <p:sp>
        <p:nvSpPr>
          <p:cNvPr id="9" name="Shape 7"/>
          <p:cNvSpPr/>
          <p:nvPr/>
        </p:nvSpPr>
        <p:spPr>
          <a:xfrm>
            <a:off x="4389120" y="1600200"/>
            <a:ext cx="3611880" cy="4206240"/>
          </a:xfrm>
          <a:prstGeom prst="roundRect">
            <a:avLst>
              <a:gd name="adj" fmla="val 2025"/>
            </a:avLst>
          </a:prstGeom>
          <a:solidFill>
            <a:srgbClr val="065A82"/>
          </a:solidFill>
          <a:ln/>
        </p:spPr>
      </p:sp>
      <p:sp>
        <p:nvSpPr>
          <p:cNvPr id="10" name="Shape 8"/>
          <p:cNvSpPr/>
          <p:nvPr/>
        </p:nvSpPr>
        <p:spPr>
          <a:xfrm>
            <a:off x="4663440" y="1874520"/>
            <a:ext cx="548640" cy="548640"/>
          </a:xfrm>
          <a:prstGeom prst="ellipse">
            <a:avLst/>
          </a:prstGeom>
          <a:solidFill>
            <a:srgbClr val="FFFFFF"/>
          </a:solidFill>
          <a:ln/>
        </p:spPr>
      </p:sp>
      <p:sp>
        <p:nvSpPr>
          <p:cNvPr id="11" name="Text 9"/>
          <p:cNvSpPr txBox="1"/>
          <p:nvPr/>
        </p:nvSpPr>
        <p:spPr>
          <a:xfrm>
            <a:off x="4663440" y="1874520"/>
            <a:ext cx="548640" cy="548640"/>
          </a:xfrm>
          <a:prstGeom prst="rect">
            <a:avLst/>
          </a:prstGeom>
          <a:noFill/>
          <a:ln/>
        </p:spPr>
        <p:txBody>
          <a:bodyPr wrap="square" lIns="0" tIns="0" rIns="0" bIns="0" rtlCol="0" anchor="ctr"/>
          <a:lstStyle/>
          <a:p>
            <a:pPr algn="ctr" indent="0" marL="0">
              <a:buNone/>
            </a:pPr>
            <a:r>
              <a:rPr lang="en-US" sz="2200" b="1" dirty="0">
                <a:solidFill>
                  <a:srgbClr val="065A82"/>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4663440" y="2560320"/>
            <a:ext cx="306324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庁内サーベイの実施</a:t>
            </a:r>
            <a:endParaRPr lang="en-US" sz="1700" dirty="0"/>
          </a:p>
        </p:txBody>
      </p:sp>
      <p:sp>
        <p:nvSpPr>
          <p:cNvPr id="13" name="Text 11"/>
          <p:cNvSpPr txBox="1"/>
          <p:nvPr/>
        </p:nvSpPr>
        <p:spPr>
          <a:xfrm>
            <a:off x="4663440" y="3200400"/>
            <a:ext cx="3063240" cy="2377440"/>
          </a:xfrm>
          <a:prstGeom prst="rect">
            <a:avLst/>
          </a:prstGeom>
          <a:noFill/>
          <a:ln/>
        </p:spPr>
        <p:txBody>
          <a:bodyPr wrap="square" lIns="0" tIns="0" rIns="0" bIns="0" rtlCol="0" anchor="t"/>
          <a:lstStyle/>
          <a:p>
            <a:pPr marL="203200" indent="-203200">
              <a:spcAft>
                <a:spcPts val="1000"/>
              </a:spcAft>
              <a:buSzPct val="100000"/>
              <a:buChar char="▪"/>
            </a:pPr>
            <a:r>
              <a:rPr lang="en-US" sz="1150" dirty="0">
                <a:solidFill>
                  <a:srgbClr val="CFE3ED"/>
                </a:solidFill>
                <a:latin typeface="Calibri" pitchFamily="34" charset="0"/>
                <a:ea typeface="Calibri" pitchFamily="34" charset="-122"/>
                <a:cs typeface="Calibri" pitchFamily="34" charset="-120"/>
              </a:rPr>
              <a:t>関係部署（防災対策課、道路管理担当課、上下水道局、福祉部門等）へのヒアリング</a:t>
            </a:r>
            <a:endParaRPr lang="en-US" sz="1150" dirty="0"/>
          </a:p>
          <a:p>
            <a:pPr marL="203200" indent="-203200">
              <a:spcAft>
                <a:spcPts val="1000"/>
              </a:spcAft>
              <a:buSzPct val="100000"/>
              <a:buChar char="▪"/>
            </a:pPr>
            <a:r>
              <a:rPr lang="en-US" sz="1150" dirty="0">
                <a:solidFill>
                  <a:srgbClr val="CFE3ED"/>
                </a:solidFill>
                <a:latin typeface="Calibri" pitchFamily="34" charset="0"/>
                <a:ea typeface="Calibri" pitchFamily="34" charset="-122"/>
                <a:cs typeface="Calibri" pitchFamily="34" charset="-120"/>
              </a:rPr>
              <a:t>過去の豪雨対応時における課題・困りごとの洗い出し</a:t>
            </a:r>
            <a:endParaRPr lang="en-US" sz="1150" dirty="0"/>
          </a:p>
          <a:p>
            <a:pPr marL="203200" indent="-203200">
              <a:spcAft>
                <a:spcPts val="1000"/>
              </a:spcAft>
              <a:buSzPct val="100000"/>
              <a:buChar char="▪"/>
            </a:pPr>
            <a:r>
              <a:rPr lang="en-US" sz="1150" dirty="0">
                <a:solidFill>
                  <a:srgbClr val="CFE3ED"/>
                </a:solidFill>
                <a:latin typeface="Calibri" pitchFamily="34" charset="0"/>
                <a:ea typeface="Calibri" pitchFamily="34" charset="-122"/>
                <a:cs typeface="Calibri" pitchFamily="34" charset="-120"/>
              </a:rPr>
              <a:t>現場職員の対応実態に関するアンケート調査</a:t>
            </a:r>
            <a:endParaRPr lang="en-US" sz="1150" dirty="0"/>
          </a:p>
        </p:txBody>
      </p:sp>
      <p:sp>
        <p:nvSpPr>
          <p:cNvPr id="14" name="Shape 12"/>
          <p:cNvSpPr/>
          <p:nvPr/>
        </p:nvSpPr>
        <p:spPr>
          <a:xfrm>
            <a:off x="8229600" y="1600200"/>
            <a:ext cx="3611880" cy="4206240"/>
          </a:xfrm>
          <a:prstGeom prst="roundRect">
            <a:avLst>
              <a:gd name="adj" fmla="val 2025"/>
            </a:avLst>
          </a:prstGeom>
          <a:solidFill>
            <a:srgbClr val="F4F8FA"/>
          </a:solidFill>
          <a:ln/>
        </p:spPr>
      </p:sp>
      <p:sp>
        <p:nvSpPr>
          <p:cNvPr id="15" name="Shape 13"/>
          <p:cNvSpPr/>
          <p:nvPr/>
        </p:nvSpPr>
        <p:spPr>
          <a:xfrm>
            <a:off x="8503920" y="1874520"/>
            <a:ext cx="548640" cy="548640"/>
          </a:xfrm>
          <a:prstGeom prst="ellipse">
            <a:avLst/>
          </a:prstGeom>
          <a:solidFill>
            <a:srgbClr val="065A82"/>
          </a:solidFill>
          <a:ln/>
        </p:spPr>
      </p:sp>
      <p:sp>
        <p:nvSpPr>
          <p:cNvPr id="16" name="Text 14"/>
          <p:cNvSpPr txBox="1"/>
          <p:nvPr/>
        </p:nvSpPr>
        <p:spPr>
          <a:xfrm>
            <a:off x="8503920" y="1874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8503920" y="2560320"/>
            <a:ext cx="3063240" cy="54864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対応マニュアルの作成</a:t>
            </a:r>
            <a:endParaRPr lang="en-US" sz="1700" dirty="0"/>
          </a:p>
        </p:txBody>
      </p:sp>
      <p:sp>
        <p:nvSpPr>
          <p:cNvPr id="18" name="Text 16"/>
          <p:cNvSpPr txBox="1"/>
          <p:nvPr/>
        </p:nvSpPr>
        <p:spPr>
          <a:xfrm>
            <a:off x="8503920" y="3200400"/>
            <a:ext cx="3063240" cy="2377440"/>
          </a:xfrm>
          <a:prstGeom prst="rect">
            <a:avLst/>
          </a:prstGeom>
          <a:noFill/>
          <a:ln/>
        </p:spPr>
        <p:txBody>
          <a:bodyPr wrap="square" lIns="0" tIns="0" rIns="0" bIns="0" rtlCol="0" anchor="t"/>
          <a:lstStyle/>
          <a:p>
            <a:pPr marL="203200" indent="-203200">
              <a:spcAft>
                <a:spcPts val="1000"/>
              </a:spcAft>
              <a:buSzPct val="100000"/>
              <a:buChar char="▪"/>
            </a:pPr>
            <a:r>
              <a:rPr lang="en-US" sz="1150" dirty="0">
                <a:solidFill>
                  <a:srgbClr val="1E2430"/>
                </a:solidFill>
                <a:latin typeface="Calibri" pitchFamily="34" charset="0"/>
                <a:ea typeface="Calibri" pitchFamily="34" charset="-122"/>
                <a:cs typeface="Calibri" pitchFamily="34" charset="-120"/>
              </a:rPr>
              <a:t>豪雨発生時の初動対応フロー（警戒レベル別）の整理</a:t>
            </a:r>
            <a:endParaRPr lang="en-US" sz="1150" dirty="0"/>
          </a:p>
          <a:p>
            <a:pPr marL="203200" indent="-203200">
              <a:spcAft>
                <a:spcPts val="1000"/>
              </a:spcAft>
              <a:buSzPct val="100000"/>
              <a:buChar char="▪"/>
            </a:pPr>
            <a:r>
              <a:rPr lang="en-US" sz="1150" dirty="0">
                <a:solidFill>
                  <a:srgbClr val="1E2430"/>
                </a:solidFill>
                <a:latin typeface="Calibri" pitchFamily="34" charset="0"/>
                <a:ea typeface="Calibri" pitchFamily="34" charset="-122"/>
                <a:cs typeface="Calibri" pitchFamily="34" charset="-120"/>
              </a:rPr>
              <a:t>参集基準・非常配備体制の明文化</a:t>
            </a:r>
            <a:endParaRPr lang="en-US" sz="1150" dirty="0"/>
          </a:p>
          <a:p>
            <a:pPr marL="203200" indent="-203200">
              <a:spcAft>
                <a:spcPts val="1000"/>
              </a:spcAft>
              <a:buSzPct val="100000"/>
              <a:buChar char="▪"/>
            </a:pPr>
            <a:r>
              <a:rPr lang="en-US" sz="1150" dirty="0">
                <a:solidFill>
                  <a:srgbClr val="1E2430"/>
                </a:solidFill>
                <a:latin typeface="Calibri" pitchFamily="34" charset="0"/>
                <a:ea typeface="Calibri" pitchFamily="34" charset="-122"/>
                <a:cs typeface="Calibri" pitchFamily="34" charset="-120"/>
              </a:rPr>
              <a:t>部署別役割分担・情報共有ルートの明確化、試行運用を経て全庁展開</a:t>
            </a:r>
            <a:endParaRPr lang="en-US" sz="1150" dirty="0"/>
          </a:p>
        </p:txBody>
      </p:sp>
      <p:sp>
        <p:nvSpPr>
          <p:cNvPr id="19" name="Text 17"/>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20" name="Text 1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6｜実施スケジュール（単年度事業）</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内製中心・4四半期での完結</a:t>
            </a:r>
            <a:endParaRPr lang="en-US" sz="2800" dirty="0"/>
          </a:p>
        </p:txBody>
      </p:sp>
      <p:sp>
        <p:nvSpPr>
          <p:cNvPr id="4" name="Shape 2"/>
          <p:cNvSpPr/>
          <p:nvPr/>
        </p:nvSpPr>
        <p:spPr>
          <a:xfrm>
            <a:off x="1920240" y="2697480"/>
            <a:ext cx="8321040" cy="0"/>
          </a:xfrm>
          <a:prstGeom prst="line">
            <a:avLst/>
          </a:prstGeom>
          <a:noFill/>
          <a:ln w="25400">
            <a:solidFill>
              <a:srgbClr val="1C7293"/>
            </a:solidFill>
            <a:prstDash val="solid"/>
          </a:ln>
        </p:spPr>
      </p:sp>
      <p:sp>
        <p:nvSpPr>
          <p:cNvPr id="5" name="Shape 3"/>
          <p:cNvSpPr/>
          <p:nvPr/>
        </p:nvSpPr>
        <p:spPr>
          <a:xfrm>
            <a:off x="1645920" y="2423160"/>
            <a:ext cx="548640" cy="548640"/>
          </a:xfrm>
          <a:prstGeom prst="ellipse">
            <a:avLst/>
          </a:prstGeom>
          <a:solidFill>
            <a:srgbClr val="065A82"/>
          </a:solidFill>
          <a:ln w="25400">
            <a:solidFill>
              <a:srgbClr val="FFFFFF"/>
            </a:solidFill>
            <a:prstDash val="solid"/>
          </a:ln>
        </p:spPr>
      </p:sp>
      <p:sp>
        <p:nvSpPr>
          <p:cNvPr id="6" name="Text 4"/>
          <p:cNvSpPr txBox="1"/>
          <p:nvPr/>
        </p:nvSpPr>
        <p:spPr>
          <a:xfrm>
            <a:off x="164592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77240" y="3154680"/>
            <a:ext cx="2286000" cy="320040"/>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第1四半期</a:t>
            </a:r>
            <a:endParaRPr lang="en-US" sz="1200" dirty="0"/>
          </a:p>
        </p:txBody>
      </p:sp>
      <p:sp>
        <p:nvSpPr>
          <p:cNvPr id="8" name="Shape 6"/>
          <p:cNvSpPr/>
          <p:nvPr/>
        </p:nvSpPr>
        <p:spPr>
          <a:xfrm>
            <a:off x="777240" y="3520440"/>
            <a:ext cx="2286000" cy="1737360"/>
          </a:xfrm>
          <a:prstGeom prst="roundRect">
            <a:avLst>
              <a:gd name="adj" fmla="val 4211"/>
            </a:avLst>
          </a:prstGeom>
          <a:solidFill>
            <a:srgbClr val="F4F8FA"/>
          </a:solidFill>
          <a:ln/>
        </p:spPr>
      </p:sp>
      <p:sp>
        <p:nvSpPr>
          <p:cNvPr id="9" name="Text 7"/>
          <p:cNvSpPr txBox="1"/>
          <p:nvPr/>
        </p:nvSpPr>
        <p:spPr>
          <a:xfrm>
            <a:off x="914400" y="3657600"/>
            <a:ext cx="2011680" cy="41148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リスク調査</a:t>
            </a:r>
            <a:endParaRPr lang="en-US" sz="1450" dirty="0"/>
          </a:p>
        </p:txBody>
      </p:sp>
      <p:sp>
        <p:nvSpPr>
          <p:cNvPr id="10" name="Text 8"/>
          <p:cNvSpPr txBox="1"/>
          <p:nvPr/>
        </p:nvSpPr>
        <p:spPr>
          <a:xfrm>
            <a:off x="914400" y="4114800"/>
            <a:ext cx="2011680" cy="1051560"/>
          </a:xfrm>
          <a:prstGeom prst="rect">
            <a:avLst/>
          </a:prstGeom>
          <a:noFill/>
          <a:ln/>
        </p:spPr>
        <p:txBody>
          <a:bodyPr wrap="square" lIns="0" tIns="0" rIns="0" bIns="0" rtlCol="0" anchor="t"/>
          <a:lstStyle/>
          <a:p>
            <a:pPr algn="ctr" indent="0" marL="0">
              <a:buNone/>
            </a:pPr>
            <a:r>
              <a:rPr lang="en-US" sz="1100" dirty="0">
                <a:solidFill>
                  <a:srgbClr val="1E2430"/>
                </a:solidFill>
                <a:latin typeface="Calibri" pitchFamily="34" charset="0"/>
                <a:ea typeface="Calibri" pitchFamily="34" charset="-122"/>
                <a:cs typeface="Calibri" pitchFamily="34" charset="-120"/>
              </a:rPr>
              <a:t>内水氾濫リスクの再整理</a:t>
            </a:r>
            <a:endParaRPr lang="en-US" sz="1100" dirty="0"/>
          </a:p>
          <a:p>
            <a:pPr algn="ctr" indent="0" marL="0">
              <a:buNone/>
            </a:pPr>
            <a:r>
              <a:rPr lang="en-US" sz="1100" dirty="0">
                <a:solidFill>
                  <a:srgbClr val="1E2430"/>
                </a:solidFill>
                <a:latin typeface="Calibri" pitchFamily="34" charset="0"/>
                <a:ea typeface="Calibri" pitchFamily="34" charset="-122"/>
                <a:cs typeface="Calibri" pitchFamily="34" charset="-120"/>
              </a:rPr>
              <a:t>優先確認箇所の洗い出し</a:t>
            </a:r>
            <a:endParaRPr lang="en-US" sz="1100" dirty="0"/>
          </a:p>
        </p:txBody>
      </p:sp>
      <p:sp>
        <p:nvSpPr>
          <p:cNvPr id="11" name="Shape 9"/>
          <p:cNvSpPr/>
          <p:nvPr/>
        </p:nvSpPr>
        <p:spPr>
          <a:xfrm>
            <a:off x="4419600" y="2423160"/>
            <a:ext cx="548640" cy="548640"/>
          </a:xfrm>
          <a:prstGeom prst="ellipse">
            <a:avLst/>
          </a:prstGeom>
          <a:solidFill>
            <a:srgbClr val="065A82"/>
          </a:solidFill>
          <a:ln w="25400">
            <a:solidFill>
              <a:srgbClr val="FFFFFF"/>
            </a:solidFill>
            <a:prstDash val="solid"/>
          </a:ln>
        </p:spPr>
      </p:sp>
      <p:sp>
        <p:nvSpPr>
          <p:cNvPr id="12" name="Text 10"/>
          <p:cNvSpPr txBox="1"/>
          <p:nvPr/>
        </p:nvSpPr>
        <p:spPr>
          <a:xfrm>
            <a:off x="441960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3550920" y="3154680"/>
            <a:ext cx="2286000" cy="320040"/>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第2四半期</a:t>
            </a:r>
            <a:endParaRPr lang="en-US" sz="1200" dirty="0"/>
          </a:p>
        </p:txBody>
      </p:sp>
      <p:sp>
        <p:nvSpPr>
          <p:cNvPr id="14" name="Shape 12"/>
          <p:cNvSpPr/>
          <p:nvPr/>
        </p:nvSpPr>
        <p:spPr>
          <a:xfrm>
            <a:off x="3550920" y="3520440"/>
            <a:ext cx="2286000" cy="1737360"/>
          </a:xfrm>
          <a:prstGeom prst="roundRect">
            <a:avLst>
              <a:gd name="adj" fmla="val 4211"/>
            </a:avLst>
          </a:prstGeom>
          <a:solidFill>
            <a:srgbClr val="F4F8FA"/>
          </a:solidFill>
          <a:ln/>
        </p:spPr>
      </p:sp>
      <p:sp>
        <p:nvSpPr>
          <p:cNvPr id="15" name="Text 13"/>
          <p:cNvSpPr txBox="1"/>
          <p:nvPr/>
        </p:nvSpPr>
        <p:spPr>
          <a:xfrm>
            <a:off x="3688080" y="3657600"/>
            <a:ext cx="2011680" cy="41148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庁内サーベイ</a:t>
            </a:r>
            <a:endParaRPr lang="en-US" sz="1450" dirty="0"/>
          </a:p>
        </p:txBody>
      </p:sp>
      <p:sp>
        <p:nvSpPr>
          <p:cNvPr id="16" name="Text 14"/>
          <p:cNvSpPr txBox="1"/>
          <p:nvPr/>
        </p:nvSpPr>
        <p:spPr>
          <a:xfrm>
            <a:off x="3688080" y="4114800"/>
            <a:ext cx="2011680" cy="1051560"/>
          </a:xfrm>
          <a:prstGeom prst="rect">
            <a:avLst/>
          </a:prstGeom>
          <a:noFill/>
          <a:ln/>
        </p:spPr>
        <p:txBody>
          <a:bodyPr wrap="square" lIns="0" tIns="0" rIns="0" bIns="0" rtlCol="0" anchor="t"/>
          <a:lstStyle/>
          <a:p>
            <a:pPr algn="ctr" indent="0" marL="0">
              <a:buNone/>
            </a:pPr>
            <a:r>
              <a:rPr lang="en-US" sz="1100" dirty="0">
                <a:solidFill>
                  <a:srgbClr val="1E2430"/>
                </a:solidFill>
                <a:latin typeface="Calibri" pitchFamily="34" charset="0"/>
                <a:ea typeface="Calibri" pitchFamily="34" charset="-122"/>
                <a:cs typeface="Calibri" pitchFamily="34" charset="-120"/>
              </a:rPr>
              <a:t>関係部署へのヒアリング</a:t>
            </a:r>
            <a:endParaRPr lang="en-US" sz="1100" dirty="0"/>
          </a:p>
          <a:p>
            <a:pPr algn="ctr" indent="0" marL="0">
              <a:buNone/>
            </a:pPr>
            <a:r>
              <a:rPr lang="en-US" sz="1100" dirty="0">
                <a:solidFill>
                  <a:srgbClr val="1E2430"/>
                </a:solidFill>
                <a:latin typeface="Calibri" pitchFamily="34" charset="0"/>
                <a:ea typeface="Calibri" pitchFamily="34" charset="-122"/>
                <a:cs typeface="Calibri" pitchFamily="34" charset="-120"/>
              </a:rPr>
              <a:t>アンケート実施</a:t>
            </a:r>
            <a:endParaRPr lang="en-US" sz="1100" dirty="0"/>
          </a:p>
        </p:txBody>
      </p:sp>
      <p:sp>
        <p:nvSpPr>
          <p:cNvPr id="17" name="Shape 15"/>
          <p:cNvSpPr/>
          <p:nvPr/>
        </p:nvSpPr>
        <p:spPr>
          <a:xfrm>
            <a:off x="7193280" y="2423160"/>
            <a:ext cx="548640" cy="548640"/>
          </a:xfrm>
          <a:prstGeom prst="ellipse">
            <a:avLst/>
          </a:prstGeom>
          <a:solidFill>
            <a:srgbClr val="065A82"/>
          </a:solidFill>
          <a:ln w="25400">
            <a:solidFill>
              <a:srgbClr val="FFFFFF"/>
            </a:solidFill>
            <a:prstDash val="solid"/>
          </a:ln>
        </p:spPr>
      </p:sp>
      <p:sp>
        <p:nvSpPr>
          <p:cNvPr id="18" name="Text 16"/>
          <p:cNvSpPr txBox="1"/>
          <p:nvPr/>
        </p:nvSpPr>
        <p:spPr>
          <a:xfrm>
            <a:off x="719328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6324600" y="3154680"/>
            <a:ext cx="2286000" cy="320040"/>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第3四半期</a:t>
            </a:r>
            <a:endParaRPr lang="en-US" sz="1200" dirty="0"/>
          </a:p>
        </p:txBody>
      </p:sp>
      <p:sp>
        <p:nvSpPr>
          <p:cNvPr id="20" name="Shape 18"/>
          <p:cNvSpPr/>
          <p:nvPr/>
        </p:nvSpPr>
        <p:spPr>
          <a:xfrm>
            <a:off x="6324600" y="3520440"/>
            <a:ext cx="2286000" cy="1737360"/>
          </a:xfrm>
          <a:prstGeom prst="roundRect">
            <a:avLst>
              <a:gd name="adj" fmla="val 4211"/>
            </a:avLst>
          </a:prstGeom>
          <a:solidFill>
            <a:srgbClr val="F4F8FA"/>
          </a:solidFill>
          <a:ln/>
        </p:spPr>
      </p:sp>
      <p:sp>
        <p:nvSpPr>
          <p:cNvPr id="21" name="Text 19"/>
          <p:cNvSpPr txBox="1"/>
          <p:nvPr/>
        </p:nvSpPr>
        <p:spPr>
          <a:xfrm>
            <a:off x="6461760" y="3657600"/>
            <a:ext cx="2011680" cy="41148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マニュアル素案作成</a:t>
            </a:r>
            <a:endParaRPr lang="en-US" sz="1450" dirty="0"/>
          </a:p>
        </p:txBody>
      </p:sp>
      <p:sp>
        <p:nvSpPr>
          <p:cNvPr id="22" name="Text 20"/>
          <p:cNvSpPr txBox="1"/>
          <p:nvPr/>
        </p:nvSpPr>
        <p:spPr>
          <a:xfrm>
            <a:off x="6461760" y="4114800"/>
            <a:ext cx="2011680" cy="1051560"/>
          </a:xfrm>
          <a:prstGeom prst="rect">
            <a:avLst/>
          </a:prstGeom>
          <a:noFill/>
          <a:ln/>
        </p:spPr>
        <p:txBody>
          <a:bodyPr wrap="square" lIns="0" tIns="0" rIns="0" bIns="0" rtlCol="0" anchor="t"/>
          <a:lstStyle/>
          <a:p>
            <a:pPr algn="ctr" indent="0" marL="0">
              <a:buNone/>
            </a:pPr>
            <a:r>
              <a:rPr lang="en-US" sz="1100" dirty="0">
                <a:solidFill>
                  <a:srgbClr val="1E2430"/>
                </a:solidFill>
                <a:latin typeface="Calibri" pitchFamily="34" charset="0"/>
                <a:ea typeface="Calibri" pitchFamily="34" charset="-122"/>
                <a:cs typeface="Calibri" pitchFamily="34" charset="-120"/>
              </a:rPr>
              <a:t>初動対応フロー・役割分担</a:t>
            </a:r>
            <a:endParaRPr lang="en-US" sz="1100" dirty="0"/>
          </a:p>
          <a:p>
            <a:pPr algn="ctr" indent="0" marL="0">
              <a:buNone/>
            </a:pPr>
            <a:r>
              <a:rPr lang="en-US" sz="1100" dirty="0">
                <a:solidFill>
                  <a:srgbClr val="1E2430"/>
                </a:solidFill>
                <a:latin typeface="Calibri" pitchFamily="34" charset="0"/>
                <a:ea typeface="Calibri" pitchFamily="34" charset="-122"/>
                <a:cs typeface="Calibri" pitchFamily="34" charset="-120"/>
              </a:rPr>
              <a:t>参集基準の整理</a:t>
            </a:r>
            <a:endParaRPr lang="en-US" sz="1100" dirty="0"/>
          </a:p>
        </p:txBody>
      </p:sp>
      <p:sp>
        <p:nvSpPr>
          <p:cNvPr id="23" name="Shape 21"/>
          <p:cNvSpPr/>
          <p:nvPr/>
        </p:nvSpPr>
        <p:spPr>
          <a:xfrm>
            <a:off x="9966960" y="2423160"/>
            <a:ext cx="548640" cy="548640"/>
          </a:xfrm>
          <a:prstGeom prst="ellipse">
            <a:avLst/>
          </a:prstGeom>
          <a:solidFill>
            <a:srgbClr val="065A82"/>
          </a:solidFill>
          <a:ln w="25400">
            <a:solidFill>
              <a:srgbClr val="FFFFFF"/>
            </a:solidFill>
            <a:prstDash val="solid"/>
          </a:ln>
        </p:spPr>
      </p:sp>
      <p:sp>
        <p:nvSpPr>
          <p:cNvPr id="24" name="Text 22"/>
          <p:cNvSpPr txBox="1"/>
          <p:nvPr/>
        </p:nvSpPr>
        <p:spPr>
          <a:xfrm>
            <a:off x="996696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9098280" y="3154680"/>
            <a:ext cx="2286000" cy="320040"/>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第4四半期</a:t>
            </a:r>
            <a:endParaRPr lang="en-US" sz="1200" dirty="0"/>
          </a:p>
        </p:txBody>
      </p:sp>
      <p:sp>
        <p:nvSpPr>
          <p:cNvPr id="26" name="Shape 24"/>
          <p:cNvSpPr/>
          <p:nvPr/>
        </p:nvSpPr>
        <p:spPr>
          <a:xfrm>
            <a:off x="9098280" y="3520440"/>
            <a:ext cx="2286000" cy="1737360"/>
          </a:xfrm>
          <a:prstGeom prst="roundRect">
            <a:avLst>
              <a:gd name="adj" fmla="val 4211"/>
            </a:avLst>
          </a:prstGeom>
          <a:solidFill>
            <a:srgbClr val="F4F8FA"/>
          </a:solidFill>
          <a:ln/>
        </p:spPr>
      </p:sp>
      <p:sp>
        <p:nvSpPr>
          <p:cNvPr id="27" name="Text 25"/>
          <p:cNvSpPr txBox="1"/>
          <p:nvPr/>
        </p:nvSpPr>
        <p:spPr>
          <a:xfrm>
            <a:off x="9235440" y="3657600"/>
            <a:ext cx="2011680" cy="411480"/>
          </a:xfrm>
          <a:prstGeom prst="rect">
            <a:avLst/>
          </a:prstGeom>
          <a:noFill/>
          <a:ln/>
        </p:spPr>
        <p:txBody>
          <a:bodyPr wrap="square" lIns="0" tIns="0" rIns="0" bIns="0" rtlCol="0" anchor="ctr"/>
          <a:lstStyle/>
          <a:p>
            <a:pPr algn="ctr" indent="0" marL="0">
              <a:buNone/>
            </a:pPr>
            <a:r>
              <a:rPr lang="en-US" sz="1450" b="1" dirty="0">
                <a:solidFill>
                  <a:srgbClr val="21295C"/>
                </a:solidFill>
                <a:latin typeface="Cambria" pitchFamily="34" charset="0"/>
                <a:ea typeface="Cambria" pitchFamily="34" charset="-122"/>
                <a:cs typeface="Cambria" pitchFamily="34" charset="-120"/>
              </a:rPr>
              <a:t>試行・確定</a:t>
            </a:r>
            <a:endParaRPr lang="en-US" sz="1450" dirty="0"/>
          </a:p>
        </p:txBody>
      </p:sp>
      <p:sp>
        <p:nvSpPr>
          <p:cNvPr id="28" name="Text 26"/>
          <p:cNvSpPr txBox="1"/>
          <p:nvPr/>
        </p:nvSpPr>
        <p:spPr>
          <a:xfrm>
            <a:off x="9235440" y="4114800"/>
            <a:ext cx="2011680" cy="1051560"/>
          </a:xfrm>
          <a:prstGeom prst="rect">
            <a:avLst/>
          </a:prstGeom>
          <a:noFill/>
          <a:ln/>
        </p:spPr>
        <p:txBody>
          <a:bodyPr wrap="square" lIns="0" tIns="0" rIns="0" bIns="0" rtlCol="0" anchor="t"/>
          <a:lstStyle/>
          <a:p>
            <a:pPr algn="ctr" indent="0" marL="0">
              <a:buNone/>
            </a:pPr>
            <a:r>
              <a:rPr lang="en-US" sz="1100" dirty="0">
                <a:solidFill>
                  <a:srgbClr val="1E2430"/>
                </a:solidFill>
                <a:latin typeface="Calibri" pitchFamily="34" charset="0"/>
                <a:ea typeface="Calibri" pitchFamily="34" charset="-122"/>
                <a:cs typeface="Calibri" pitchFamily="34" charset="-120"/>
              </a:rPr>
              <a:t>訓練等での試行運用を経て</a:t>
            </a:r>
            <a:endParaRPr lang="en-US" sz="1100" dirty="0"/>
          </a:p>
          <a:p>
            <a:pPr algn="ctr" indent="0" marL="0">
              <a:buNone/>
            </a:pPr>
            <a:r>
              <a:rPr lang="en-US" sz="1100" dirty="0">
                <a:solidFill>
                  <a:srgbClr val="1E2430"/>
                </a:solidFill>
                <a:latin typeface="Calibri" pitchFamily="34" charset="0"/>
                <a:ea typeface="Calibri" pitchFamily="34" charset="-122"/>
                <a:cs typeface="Calibri" pitchFamily="34" charset="-120"/>
              </a:rPr>
              <a:t>マニュアルを確定・全庁展開</a:t>
            </a:r>
            <a:endParaRPr lang="en-US" sz="1100" dirty="0"/>
          </a:p>
        </p:txBody>
      </p:sp>
      <p:sp>
        <p:nvSpPr>
          <p:cNvPr id="29" name="Text 27"/>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30" name="Text 2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7｜実施体制・費用／期待される効果</a:t>
            </a:r>
            <a:endParaRPr lang="en-US" sz="1300" dirty="0"/>
          </a:p>
        </p:txBody>
      </p:sp>
      <p:sp>
        <p:nvSpPr>
          <p:cNvPr id="3" name="Text 1"/>
          <p:cNvSpPr txBox="1"/>
          <p:nvPr/>
        </p:nvSpPr>
        <p:spPr>
          <a:xfrm>
            <a:off x="548640" y="594360"/>
            <a:ext cx="1097280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低コストで、組織的な対応力を底上げ</a:t>
            </a:r>
            <a:endParaRPr lang="en-US" sz="2800" dirty="0"/>
          </a:p>
        </p:txBody>
      </p:sp>
      <p:sp>
        <p:nvSpPr>
          <p:cNvPr id="4" name="Shape 2"/>
          <p:cNvSpPr/>
          <p:nvPr/>
        </p:nvSpPr>
        <p:spPr>
          <a:xfrm>
            <a:off x="548640" y="1600200"/>
            <a:ext cx="5394960" cy="4114800"/>
          </a:xfrm>
          <a:prstGeom prst="roundRect">
            <a:avLst>
              <a:gd name="adj" fmla="val 2222"/>
            </a:avLst>
          </a:prstGeom>
          <a:solidFill>
            <a:srgbClr val="F4F8FA"/>
          </a:solidFill>
          <a:ln/>
        </p:spPr>
      </p:sp>
      <p:sp>
        <p:nvSpPr>
          <p:cNvPr id="5" name="Text 3"/>
          <p:cNvSpPr txBox="1"/>
          <p:nvPr/>
        </p:nvSpPr>
        <p:spPr>
          <a:xfrm>
            <a:off x="822960" y="1828800"/>
            <a:ext cx="484632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実施体制・費用</a:t>
            </a:r>
            <a:endParaRPr lang="en-US" sz="1600" dirty="0"/>
          </a:p>
        </p:txBody>
      </p:sp>
      <p:sp>
        <p:nvSpPr>
          <p:cNvPr id="6" name="Text 4"/>
          <p:cNvSpPr txBox="1"/>
          <p:nvPr/>
        </p:nvSpPr>
        <p:spPr>
          <a:xfrm>
            <a:off x="822960" y="2331720"/>
            <a:ext cx="4846320" cy="329184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1E2430"/>
                </a:solidFill>
                <a:latin typeface="Calibri" pitchFamily="34" charset="0"/>
                <a:ea typeface="Calibri" pitchFamily="34" charset="-122"/>
                <a:cs typeface="Calibri" pitchFamily="34" charset="-120"/>
              </a:rPr>
              <a:t>主管：地域活躍部 防災対策課</a:t>
            </a:r>
            <a:endParaRPr lang="en-US" sz="1300" dirty="0"/>
          </a:p>
          <a:p>
            <a:pPr marL="228600" indent="-228600">
              <a:spcAft>
                <a:spcPts val="1200"/>
              </a:spcAft>
              <a:buSzPct val="100000"/>
              <a:buChar char="▪"/>
            </a:pPr>
            <a:r>
              <a:rPr lang="en-US" sz="1300" dirty="0">
                <a:solidFill>
                  <a:srgbClr val="1E2430"/>
                </a:solidFill>
                <a:latin typeface="Calibri" pitchFamily="34" charset="0"/>
                <a:ea typeface="Calibri" pitchFamily="34" charset="-122"/>
                <a:cs typeface="Calibri" pitchFamily="34" charset="-120"/>
              </a:rPr>
              <a:t>関係部署（道路管理担当課、上下水道局、福祉部門等）と連携し、内製で実施することを基本とする</a:t>
            </a:r>
            <a:endParaRPr lang="en-US" sz="1300" dirty="0"/>
          </a:p>
          <a:p>
            <a:pPr marL="228600" indent="-228600">
              <a:spcAft>
                <a:spcPts val="1200"/>
              </a:spcAft>
              <a:buSzPct val="100000"/>
              <a:buChar char="▪"/>
            </a:pPr>
            <a:r>
              <a:rPr lang="en-US" sz="1300" dirty="0">
                <a:solidFill>
                  <a:srgbClr val="1E2430"/>
                </a:solidFill>
                <a:latin typeface="Calibri" pitchFamily="34" charset="0"/>
                <a:ea typeface="Calibri" pitchFamily="34" charset="-122"/>
                <a:cs typeface="Calibri" pitchFamily="34" charset="-120"/>
              </a:rPr>
              <a:t>外部委託が必要な範囲（専門的な浸水解析等）は最小限にとどめ、既存の統計データ・庁内知見を最大限活用</a:t>
            </a:r>
            <a:endParaRPr lang="en-US" sz="1300" dirty="0"/>
          </a:p>
          <a:p>
            <a:pPr marL="228600" indent="-228600">
              <a:spcAft>
                <a:spcPts val="1200"/>
              </a:spcAft>
              <a:buSzPct val="100000"/>
              <a:buChar char="▪"/>
            </a:pPr>
            <a:r>
              <a:rPr lang="en-US" sz="1300" dirty="0">
                <a:solidFill>
                  <a:srgbClr val="1E2430"/>
                </a:solidFill>
                <a:latin typeface="Calibri" pitchFamily="34" charset="0"/>
                <a:ea typeface="Calibri" pitchFamily="34" charset="-122"/>
                <a:cs typeface="Calibri" pitchFamily="34" charset="-120"/>
              </a:rPr>
              <a:t>必要に応じて国の防災・安全交付金等の活用可能性を別途検討</a:t>
            </a:r>
            <a:endParaRPr lang="en-US" sz="1300" dirty="0"/>
          </a:p>
        </p:txBody>
      </p:sp>
      <p:sp>
        <p:nvSpPr>
          <p:cNvPr id="7" name="Shape 5"/>
          <p:cNvSpPr/>
          <p:nvPr/>
        </p:nvSpPr>
        <p:spPr>
          <a:xfrm>
            <a:off x="6263640" y="1600200"/>
            <a:ext cx="5394960" cy="4114800"/>
          </a:xfrm>
          <a:prstGeom prst="roundRect">
            <a:avLst>
              <a:gd name="adj" fmla="val 2222"/>
            </a:avLst>
          </a:prstGeom>
          <a:solidFill>
            <a:srgbClr val="065A82"/>
          </a:solidFill>
          <a:ln/>
        </p:spPr>
      </p:sp>
      <p:sp>
        <p:nvSpPr>
          <p:cNvPr id="8" name="Text 6"/>
          <p:cNvSpPr txBox="1"/>
          <p:nvPr/>
        </p:nvSpPr>
        <p:spPr>
          <a:xfrm>
            <a:off x="6537960" y="1828800"/>
            <a:ext cx="48463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期待される効果</a:t>
            </a:r>
            <a:endParaRPr lang="en-US" sz="1600" dirty="0"/>
          </a:p>
        </p:txBody>
      </p:sp>
      <p:sp>
        <p:nvSpPr>
          <p:cNvPr id="9" name="Text 7"/>
          <p:cNvSpPr txBox="1"/>
          <p:nvPr/>
        </p:nvSpPr>
        <p:spPr>
          <a:xfrm>
            <a:off x="6537960" y="2331720"/>
            <a:ext cx="4846320" cy="329184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CFE3ED"/>
                </a:solidFill>
                <a:latin typeface="Calibri" pitchFamily="34" charset="0"/>
                <a:ea typeface="Calibri" pitchFamily="34" charset="-122"/>
                <a:cs typeface="Calibri" pitchFamily="34" charset="-120"/>
              </a:rPr>
              <a:t>豪雨発生時における初動対応の迅速化・的確化</a:t>
            </a:r>
            <a:endParaRPr lang="en-US" sz="1300" dirty="0"/>
          </a:p>
          <a:p>
            <a:pPr marL="228600" indent="-228600">
              <a:spcAft>
                <a:spcPts val="1200"/>
              </a:spcAft>
              <a:buSzPct val="100000"/>
              <a:buChar char="▪"/>
            </a:pPr>
            <a:r>
              <a:rPr lang="en-US" sz="1300" dirty="0">
                <a:solidFill>
                  <a:srgbClr val="CFE3ED"/>
                </a:solidFill>
                <a:latin typeface="Calibri" pitchFamily="34" charset="0"/>
                <a:ea typeface="Calibri" pitchFamily="34" charset="-122"/>
                <a:cs typeface="Calibri" pitchFamily="34" charset="-120"/>
              </a:rPr>
              <a:t>対応の属人化解消による組織的なリスク管理体制の構築</a:t>
            </a:r>
            <a:endParaRPr lang="en-US" sz="1300" dirty="0"/>
          </a:p>
          <a:p>
            <a:pPr marL="228600" indent="-228600">
              <a:spcAft>
                <a:spcPts val="1200"/>
              </a:spcAft>
              <a:buSzPct val="100000"/>
              <a:buChar char="▪"/>
            </a:pPr>
            <a:r>
              <a:rPr lang="en-US" sz="1300" dirty="0">
                <a:solidFill>
                  <a:srgbClr val="CFE3ED"/>
                </a:solidFill>
                <a:latin typeface="Calibri" pitchFamily="34" charset="0"/>
                <a:ea typeface="Calibri" pitchFamily="34" charset="-122"/>
                <a:cs typeface="Calibri" pitchFamily="34" charset="-120"/>
              </a:rPr>
              <a:t>部署間の情報共有の円滑化による意思決定の迅速化</a:t>
            </a:r>
            <a:endParaRPr lang="en-US" sz="1300" dirty="0"/>
          </a:p>
          <a:p>
            <a:pPr marL="228600" indent="-228600">
              <a:spcAft>
                <a:spcPts val="1200"/>
              </a:spcAft>
              <a:buSzPct val="100000"/>
              <a:buChar char="▪"/>
            </a:pPr>
            <a:r>
              <a:rPr lang="en-US" sz="1300" dirty="0">
                <a:solidFill>
                  <a:srgbClr val="CFE3ED"/>
                </a:solidFill>
                <a:latin typeface="Calibri" pitchFamily="34" charset="0"/>
                <a:ea typeface="Calibri" pitchFamily="34" charset="-122"/>
                <a:cs typeface="Calibri" pitchFamily="34" charset="-120"/>
              </a:rPr>
              <a:t>住民への情報提供・避難対応等の質の向上</a:t>
            </a:r>
            <a:endParaRPr lang="en-US" sz="1300" dirty="0"/>
          </a:p>
        </p:txBody>
      </p:sp>
      <p:sp>
        <p:nvSpPr>
          <p:cNvPr id="10" name="Text 8"/>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6"/>
                </a:solidFill>
                <a:latin typeface="Calibri" pitchFamily="34" charset="0"/>
                <a:ea typeface="Calibri" pitchFamily="34" charset="-122"/>
                <a:cs typeface="Calibri" pitchFamily="34" charset="-120"/>
              </a:rPr>
              <a:t>豊田市役所　地域活躍部 防災対策課</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065A82">
              <a:alpha val="45000"/>
            </a:srgbClr>
          </a:solidFill>
          <a:ln/>
        </p:spPr>
      </p:sp>
      <p:sp>
        <p:nvSpPr>
          <p:cNvPr id="3" name="Text 1"/>
          <p:cNvSpPr txBox="1"/>
          <p:nvPr/>
        </p:nvSpPr>
        <p:spPr>
          <a:xfrm>
            <a:off x="731520" y="731520"/>
            <a:ext cx="5486400" cy="36576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8｜結び</a:t>
            </a:r>
            <a:endParaRPr lang="en-US" sz="1300" dirty="0"/>
          </a:p>
        </p:txBody>
      </p:sp>
      <p:sp>
        <p:nvSpPr>
          <p:cNvPr id="4" name="Text 2"/>
          <p:cNvSpPr txBox="1"/>
          <p:nvPr/>
        </p:nvSpPr>
        <p:spPr>
          <a:xfrm>
            <a:off x="731520" y="1828800"/>
            <a:ext cx="10515600" cy="2011680"/>
          </a:xfrm>
          <a:prstGeom prst="rect">
            <a:avLst/>
          </a:prstGeom>
          <a:noFill/>
          <a:ln/>
        </p:spPr>
        <p:txBody>
          <a:bodyPr wrap="square" lIns="0" tIns="0" rIns="0" bIns="0" rtlCol="0" anchor="ctr"/>
          <a:lstStyle/>
          <a:p>
            <a:pPr indent="0" marL="0">
              <a:lnSpc>
                <a:spcPct val="130000"/>
              </a:lnSpc>
              <a:buNone/>
            </a:pPr>
            <a:r>
              <a:rPr lang="en-US" sz="2600" b="1" dirty="0">
                <a:solidFill>
                  <a:srgbClr val="FFFFFF"/>
                </a:solidFill>
                <a:latin typeface="Cambria" pitchFamily="34" charset="0"/>
                <a:ea typeface="Cambria" pitchFamily="34" charset="-122"/>
                <a:cs typeface="Cambria" pitchFamily="34" charset="-120"/>
              </a:rPr>
              <a:t>堤防決壊等を伴う大規模な河川氾濫への対応ではなく、</a:t>
            </a:r>
            <a:endParaRPr lang="en-US" sz="2600" dirty="0"/>
          </a:p>
          <a:p>
            <a:pPr indent="0" marL="0">
              <a:lnSpc>
                <a:spcPct val="130000"/>
              </a:lnSpc>
              <a:buNone/>
            </a:pPr>
            <a:r>
              <a:rPr lang="en-US" sz="2600" b="1" dirty="0">
                <a:solidFill>
                  <a:srgbClr val="FFFFFF"/>
                </a:solidFill>
                <a:latin typeface="Cambria" pitchFamily="34" charset="0"/>
                <a:ea typeface="Cambria" pitchFamily="34" charset="-122"/>
                <a:cs typeface="Cambria" pitchFamily="34" charset="-120"/>
              </a:rPr>
              <a:t>近年増加が明らかな内水氾濫に的を絞り、</a:t>
            </a:r>
            <a:endParaRPr lang="en-US" sz="2600" dirty="0"/>
          </a:p>
          <a:p>
            <a:pPr indent="0" marL="0">
              <a:lnSpc>
                <a:spcPct val="130000"/>
              </a:lnSpc>
              <a:buNone/>
            </a:pPr>
            <a:r>
              <a:rPr lang="en-US" sz="2600" b="1" dirty="0">
                <a:solidFill>
                  <a:srgbClr val="FFFFFF"/>
                </a:solidFill>
                <a:latin typeface="Cambria" pitchFamily="34" charset="0"/>
                <a:ea typeface="Cambria" pitchFamily="34" charset="-122"/>
                <a:cs typeface="Cambria" pitchFamily="34" charset="-120"/>
              </a:rPr>
              <a:t>庁内の対応力を強化したい。</a:t>
            </a:r>
            <a:endParaRPr lang="en-US" sz="2600" dirty="0"/>
          </a:p>
        </p:txBody>
      </p:sp>
      <p:sp>
        <p:nvSpPr>
          <p:cNvPr id="5" name="Shape 3"/>
          <p:cNvSpPr/>
          <p:nvPr/>
        </p:nvSpPr>
        <p:spPr>
          <a:xfrm>
            <a:off x="731520" y="4114800"/>
            <a:ext cx="2926080" cy="0"/>
          </a:xfrm>
          <a:prstGeom prst="line">
            <a:avLst/>
          </a:prstGeom>
          <a:noFill/>
          <a:ln w="25400">
            <a:solidFill>
              <a:srgbClr val="1C7293"/>
            </a:solidFill>
            <a:prstDash val="solid"/>
          </a:ln>
        </p:spPr>
      </p:sp>
      <p:sp>
        <p:nvSpPr>
          <p:cNvPr id="6" name="Text 4"/>
          <p:cNvSpPr txBox="1"/>
          <p:nvPr/>
        </p:nvSpPr>
        <p:spPr>
          <a:xfrm>
            <a:off x="731520" y="4389120"/>
            <a:ext cx="9144000" cy="548640"/>
          </a:xfrm>
          <a:prstGeom prst="rect">
            <a:avLst/>
          </a:prstGeom>
          <a:noFill/>
          <a:ln/>
        </p:spPr>
        <p:txBody>
          <a:bodyPr wrap="square" lIns="0" tIns="0" rIns="0" bIns="0" rtlCol="0" anchor="ctr"/>
          <a:lstStyle/>
          <a:p>
            <a:pPr indent="0" marL="0">
              <a:buNone/>
            </a:pPr>
            <a:r>
              <a:rPr lang="en-US" sz="1500" dirty="0">
                <a:solidFill>
                  <a:srgbClr val="CFE3ED"/>
                </a:solidFill>
                <a:latin typeface="Calibri" pitchFamily="34" charset="0"/>
                <a:ea typeface="Calibri" pitchFamily="34" charset="-122"/>
                <a:cs typeface="Calibri" pitchFamily="34" charset="-120"/>
              </a:rPr>
              <a:t>本事業の実施について、御決裁を賜りたく御高配のほどよろしくお願い申し上げる。</a:t>
            </a:r>
            <a:endParaRPr lang="en-US" sz="1500" dirty="0"/>
          </a:p>
        </p:txBody>
      </p:sp>
      <p:sp>
        <p:nvSpPr>
          <p:cNvPr id="7" name="Text 5"/>
          <p:cNvSpPr txBox="1"/>
          <p:nvPr/>
        </p:nvSpPr>
        <p:spPr>
          <a:xfrm>
            <a:off x="731520" y="6126480"/>
            <a:ext cx="5486400" cy="365760"/>
          </a:xfrm>
          <a:prstGeom prst="rect">
            <a:avLst/>
          </a:prstGeom>
          <a:noFill/>
          <a:ln/>
        </p:spPr>
        <p:txBody>
          <a:bodyPr wrap="square" lIns="0" tIns="0" rIns="0" bIns="0" rtlCol="0" anchor="ctr"/>
          <a:lstStyle/>
          <a:p>
            <a:pPr indent="0" marL="0">
              <a:buNone/>
            </a:pPr>
            <a:r>
              <a:rPr lang="en-US" sz="1200" dirty="0">
                <a:solidFill>
                  <a:srgbClr val="CFE3ED"/>
                </a:solidFill>
                <a:latin typeface="Calibri" pitchFamily="34" charset="0"/>
                <a:ea typeface="Calibri" pitchFamily="34" charset="-122"/>
                <a:cs typeface="Calibri" pitchFamily="34" charset="-120"/>
              </a:rPr>
              <a:t>豊田市役所　地域活躍部 防災対策課</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2026-09-17T01:40:25Z</dcterms:created>
  <dcterms:modified xsi:type="dcterms:W3CDTF">2026-09-17T01:40:25Z</dcterms:modified>
</cp:coreProperties>
</file>